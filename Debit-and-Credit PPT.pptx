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1430000" cy="8451850"/>
  <p:notesSz cx="11430000" cy="8451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7375" y="2416175"/>
            <a:ext cx="251333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0664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4B4A4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0664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4B4A4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0664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0664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82600"/>
            <a:ext cx="10123170" cy="169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0664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3043634"/>
            <a:ext cx="5108575" cy="2880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4B4A4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3090" rIns="0" bIns="0" rtlCol="0">
            <a:spAutoFit/>
          </a:bodyPr>
          <a:lstStyle/>
          <a:p>
            <a:pPr marL="4298950" marR="5080">
              <a:lnSpc>
                <a:spcPct val="106300"/>
              </a:lnSpc>
              <a:spcBef>
                <a:spcPts val="95"/>
              </a:spcBef>
            </a:pPr>
            <a:r>
              <a:rPr spc="-95" dirty="0"/>
              <a:t>Debit</a:t>
            </a:r>
            <a:r>
              <a:rPr spc="-254" dirty="0"/>
              <a:t> </a:t>
            </a:r>
            <a:r>
              <a:rPr spc="-270" dirty="0"/>
              <a:t>&amp;</a:t>
            </a:r>
            <a:r>
              <a:rPr spc="-254" dirty="0"/>
              <a:t> </a:t>
            </a:r>
            <a:r>
              <a:rPr spc="-95" dirty="0"/>
              <a:t>Credit</a:t>
            </a:r>
            <a:r>
              <a:rPr spc="-254" dirty="0"/>
              <a:t> </a:t>
            </a:r>
            <a:r>
              <a:rPr spc="-130" dirty="0"/>
              <a:t>Transaction </a:t>
            </a:r>
            <a:r>
              <a:rPr spc="-20" dirty="0"/>
              <a:t>Analysis</a:t>
            </a:r>
          </a:p>
        </p:txBody>
      </p:sp>
      <p:sp>
        <p:nvSpPr>
          <p:cNvPr id="4" name="object 4"/>
          <p:cNvSpPr/>
          <p:nvPr/>
        </p:nvSpPr>
        <p:spPr>
          <a:xfrm>
            <a:off x="4914900" y="4048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4900" y="43815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4900" y="4714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73625" y="2425700"/>
            <a:ext cx="4170045" cy="2888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Analysis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yearly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debit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credit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transaction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Tools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Used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–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SQL,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Excel,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Power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BI,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Tableau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spc="-10" dirty="0">
                <a:solidFill>
                  <a:srgbClr val="006646"/>
                </a:solidFill>
                <a:latin typeface="Arial Black"/>
                <a:cs typeface="Arial Black"/>
              </a:rPr>
              <a:t>Objectives:</a:t>
            </a:r>
            <a:endParaRPr sz="1650">
              <a:latin typeface="Arial Black"/>
              <a:cs typeface="Arial Black"/>
            </a:endParaRPr>
          </a:p>
          <a:p>
            <a:pPr marL="286385" marR="203835">
              <a:lnSpc>
                <a:spcPct val="162000"/>
              </a:lnSpc>
              <a:spcBef>
                <a:spcPts val="1145"/>
              </a:spcBef>
            </a:pP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Identify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trends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high-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value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customers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Compare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banks,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branches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payment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modes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End-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to-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end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workflow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from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raw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insights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Focus: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Integration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4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tools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complete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analysis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82600"/>
            <a:ext cx="432371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100" dirty="0"/>
              <a:t>Overall</a:t>
            </a:r>
            <a:r>
              <a:rPr spc="-225" dirty="0"/>
              <a:t> </a:t>
            </a:r>
            <a:r>
              <a:rPr spc="-135" dirty="0"/>
              <a:t>Transaction </a:t>
            </a:r>
            <a:r>
              <a:rPr spc="-20" dirty="0"/>
              <a:t>Analysis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81025" y="1800224"/>
            <a:ext cx="2905125" cy="1028700"/>
            <a:chOff x="581025" y="1800224"/>
            <a:chExt cx="2905125" cy="1028700"/>
          </a:xfrm>
        </p:grpSpPr>
        <p:sp>
          <p:nvSpPr>
            <p:cNvPr id="7" name="object 7"/>
            <p:cNvSpPr/>
            <p:nvPr/>
          </p:nvSpPr>
          <p:spPr>
            <a:xfrm>
              <a:off x="600075" y="1809749"/>
              <a:ext cx="2876550" cy="1009650"/>
            </a:xfrm>
            <a:custGeom>
              <a:avLst/>
              <a:gdLst/>
              <a:ahLst/>
              <a:cxnLst/>
              <a:rect l="l" t="t" r="r" b="b"/>
              <a:pathLst>
                <a:path w="2876550" h="1009650">
                  <a:moveTo>
                    <a:pt x="2765310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942975"/>
                  </a:lnTo>
                  <a:lnTo>
                    <a:pt x="0" y="947356"/>
                  </a:lnTo>
                  <a:lnTo>
                    <a:pt x="15622" y="983653"/>
                  </a:lnTo>
                  <a:lnTo>
                    <a:pt x="51663" y="1006246"/>
                  </a:lnTo>
                  <a:lnTo>
                    <a:pt x="71194" y="1009650"/>
                  </a:lnTo>
                  <a:lnTo>
                    <a:pt x="2765310" y="1009650"/>
                  </a:lnTo>
                  <a:lnTo>
                    <a:pt x="2810268" y="997597"/>
                  </a:lnTo>
                  <a:lnTo>
                    <a:pt x="2847200" y="969251"/>
                  </a:lnTo>
                  <a:lnTo>
                    <a:pt x="2870479" y="928928"/>
                  </a:lnTo>
                  <a:lnTo>
                    <a:pt x="2876550" y="898410"/>
                  </a:lnTo>
                  <a:lnTo>
                    <a:pt x="2876550" y="111239"/>
                  </a:lnTo>
                  <a:lnTo>
                    <a:pt x="2864497" y="66268"/>
                  </a:lnTo>
                  <a:lnTo>
                    <a:pt x="2836151" y="29349"/>
                  </a:lnTo>
                  <a:lnTo>
                    <a:pt x="2795828" y="6070"/>
                  </a:lnTo>
                  <a:lnTo>
                    <a:pt x="2773045" y="762"/>
                  </a:lnTo>
                  <a:lnTo>
                    <a:pt x="276531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913" y="1800237"/>
              <a:ext cx="2885440" cy="1028700"/>
            </a:xfrm>
            <a:custGeom>
              <a:avLst/>
              <a:gdLst/>
              <a:ahLst/>
              <a:cxnLst/>
              <a:rect l="l" t="t" r="r" b="b"/>
              <a:pathLst>
                <a:path w="2885440" h="1028700">
                  <a:moveTo>
                    <a:pt x="2885224" y="128587"/>
                  </a:moveTo>
                  <a:lnTo>
                    <a:pt x="2875432" y="79375"/>
                  </a:lnTo>
                  <a:lnTo>
                    <a:pt x="2848013" y="38163"/>
                  </a:lnTo>
                  <a:lnTo>
                    <a:pt x="2847848" y="37973"/>
                  </a:lnTo>
                  <a:lnTo>
                    <a:pt x="2847568" y="37655"/>
                  </a:lnTo>
                  <a:lnTo>
                    <a:pt x="2838170" y="29121"/>
                  </a:lnTo>
                  <a:lnTo>
                    <a:pt x="2828099" y="21640"/>
                  </a:lnTo>
                  <a:lnTo>
                    <a:pt x="2823756" y="19050"/>
                  </a:lnTo>
                  <a:lnTo>
                    <a:pt x="2817317" y="15189"/>
                  </a:lnTo>
                  <a:lnTo>
                    <a:pt x="2769311" y="609"/>
                  </a:lnTo>
                  <a:lnTo>
                    <a:pt x="2756636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756636" y="19050"/>
                  </a:lnTo>
                  <a:lnTo>
                    <a:pt x="2798559" y="27381"/>
                  </a:lnTo>
                  <a:lnTo>
                    <a:pt x="2834094" y="51130"/>
                  </a:lnTo>
                  <a:lnTo>
                    <a:pt x="2857830" y="86664"/>
                  </a:lnTo>
                  <a:lnTo>
                    <a:pt x="2866174" y="128587"/>
                  </a:lnTo>
                  <a:lnTo>
                    <a:pt x="2866174" y="900112"/>
                  </a:lnTo>
                  <a:lnTo>
                    <a:pt x="2857830" y="942022"/>
                  </a:lnTo>
                  <a:lnTo>
                    <a:pt x="2834551" y="977061"/>
                  </a:lnTo>
                  <a:lnTo>
                    <a:pt x="2834094" y="977569"/>
                  </a:lnTo>
                  <a:lnTo>
                    <a:pt x="2798559" y="1001306"/>
                  </a:lnTo>
                  <a:lnTo>
                    <a:pt x="2756636" y="1009650"/>
                  </a:lnTo>
                  <a:lnTo>
                    <a:pt x="75349" y="1009650"/>
                  </a:lnTo>
                  <a:lnTo>
                    <a:pt x="33007" y="1000023"/>
                  </a:lnTo>
                  <a:lnTo>
                    <a:pt x="1092" y="967371"/>
                  </a:lnTo>
                  <a:lnTo>
                    <a:pt x="0" y="963256"/>
                  </a:lnTo>
                  <a:lnTo>
                    <a:pt x="609" y="967371"/>
                  </a:lnTo>
                  <a:lnTo>
                    <a:pt x="2413" y="974572"/>
                  </a:lnTo>
                  <a:lnTo>
                    <a:pt x="4851" y="981367"/>
                  </a:lnTo>
                  <a:lnTo>
                    <a:pt x="4953" y="981659"/>
                  </a:lnTo>
                  <a:lnTo>
                    <a:pt x="33007" y="1015860"/>
                  </a:lnTo>
                  <a:lnTo>
                    <a:pt x="75349" y="1028700"/>
                  </a:lnTo>
                  <a:lnTo>
                    <a:pt x="2756636" y="1028700"/>
                  </a:lnTo>
                  <a:lnTo>
                    <a:pt x="2805849" y="1018908"/>
                  </a:lnTo>
                  <a:lnTo>
                    <a:pt x="2847556" y="991031"/>
                  </a:lnTo>
                  <a:lnTo>
                    <a:pt x="2848013" y="990523"/>
                  </a:lnTo>
                  <a:lnTo>
                    <a:pt x="2856077" y="981659"/>
                  </a:lnTo>
                  <a:lnTo>
                    <a:pt x="2879725" y="937374"/>
                  </a:lnTo>
                  <a:lnTo>
                    <a:pt x="2885224" y="900112"/>
                  </a:lnTo>
                  <a:lnTo>
                    <a:pt x="2885224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1025" y="1800224"/>
              <a:ext cx="76200" cy="1028700"/>
            </a:xfrm>
            <a:custGeom>
              <a:avLst/>
              <a:gdLst/>
              <a:ahLst/>
              <a:cxnLst/>
              <a:rect l="l" t="t" r="r" b="b"/>
              <a:pathLst>
                <a:path w="76200" h="1028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952500"/>
                  </a:lnTo>
                  <a:lnTo>
                    <a:pt x="0" y="957503"/>
                  </a:lnTo>
                  <a:lnTo>
                    <a:pt x="15622" y="998994"/>
                  </a:lnTo>
                  <a:lnTo>
                    <a:pt x="51663" y="1024813"/>
                  </a:lnTo>
                  <a:lnTo>
                    <a:pt x="71194" y="1028700"/>
                  </a:lnTo>
                  <a:lnTo>
                    <a:pt x="76200" y="1028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5025" y="1843484"/>
            <a:ext cx="616585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20" dirty="0">
                <a:solidFill>
                  <a:srgbClr val="4B4A4A"/>
                </a:solidFill>
                <a:latin typeface="Arial Black"/>
                <a:cs typeface="Arial Black"/>
              </a:rPr>
              <a:t>Debit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85.16M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38550" y="1800224"/>
            <a:ext cx="2905125" cy="1028700"/>
            <a:chOff x="3638550" y="1800224"/>
            <a:chExt cx="2905125" cy="1028700"/>
          </a:xfrm>
        </p:grpSpPr>
        <p:sp>
          <p:nvSpPr>
            <p:cNvPr id="12" name="object 12"/>
            <p:cNvSpPr/>
            <p:nvPr/>
          </p:nvSpPr>
          <p:spPr>
            <a:xfrm>
              <a:off x="3657600" y="1809749"/>
              <a:ext cx="2876550" cy="1009650"/>
            </a:xfrm>
            <a:custGeom>
              <a:avLst/>
              <a:gdLst/>
              <a:ahLst/>
              <a:cxnLst/>
              <a:rect l="l" t="t" r="r" b="b"/>
              <a:pathLst>
                <a:path w="2876550" h="1009650">
                  <a:moveTo>
                    <a:pt x="2765310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942975"/>
                  </a:lnTo>
                  <a:lnTo>
                    <a:pt x="0" y="947356"/>
                  </a:lnTo>
                  <a:lnTo>
                    <a:pt x="15621" y="983653"/>
                  </a:lnTo>
                  <a:lnTo>
                    <a:pt x="51663" y="1006246"/>
                  </a:lnTo>
                  <a:lnTo>
                    <a:pt x="71196" y="1009650"/>
                  </a:lnTo>
                  <a:lnTo>
                    <a:pt x="2765310" y="1009650"/>
                  </a:lnTo>
                  <a:lnTo>
                    <a:pt x="2810268" y="997597"/>
                  </a:lnTo>
                  <a:lnTo>
                    <a:pt x="2847200" y="969251"/>
                  </a:lnTo>
                  <a:lnTo>
                    <a:pt x="2870479" y="928928"/>
                  </a:lnTo>
                  <a:lnTo>
                    <a:pt x="2876550" y="898410"/>
                  </a:lnTo>
                  <a:lnTo>
                    <a:pt x="2876550" y="111239"/>
                  </a:lnTo>
                  <a:lnTo>
                    <a:pt x="2864497" y="66268"/>
                  </a:lnTo>
                  <a:lnTo>
                    <a:pt x="2836151" y="29349"/>
                  </a:lnTo>
                  <a:lnTo>
                    <a:pt x="2795828" y="6070"/>
                  </a:lnTo>
                  <a:lnTo>
                    <a:pt x="2773045" y="762"/>
                  </a:lnTo>
                  <a:lnTo>
                    <a:pt x="276531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8438" y="1800237"/>
              <a:ext cx="2885440" cy="1028700"/>
            </a:xfrm>
            <a:custGeom>
              <a:avLst/>
              <a:gdLst/>
              <a:ahLst/>
              <a:cxnLst/>
              <a:rect l="l" t="t" r="r" b="b"/>
              <a:pathLst>
                <a:path w="2885440" h="1028700">
                  <a:moveTo>
                    <a:pt x="2885224" y="128587"/>
                  </a:moveTo>
                  <a:lnTo>
                    <a:pt x="2875432" y="79375"/>
                  </a:lnTo>
                  <a:lnTo>
                    <a:pt x="2848013" y="38163"/>
                  </a:lnTo>
                  <a:lnTo>
                    <a:pt x="2847848" y="37973"/>
                  </a:lnTo>
                  <a:lnTo>
                    <a:pt x="2847568" y="37655"/>
                  </a:lnTo>
                  <a:lnTo>
                    <a:pt x="2838170" y="29121"/>
                  </a:lnTo>
                  <a:lnTo>
                    <a:pt x="2828099" y="21640"/>
                  </a:lnTo>
                  <a:lnTo>
                    <a:pt x="2823756" y="19050"/>
                  </a:lnTo>
                  <a:lnTo>
                    <a:pt x="2817317" y="15189"/>
                  </a:lnTo>
                  <a:lnTo>
                    <a:pt x="2769311" y="609"/>
                  </a:lnTo>
                  <a:lnTo>
                    <a:pt x="2756636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756636" y="19050"/>
                  </a:lnTo>
                  <a:lnTo>
                    <a:pt x="2798546" y="27381"/>
                  </a:lnTo>
                  <a:lnTo>
                    <a:pt x="2834094" y="51130"/>
                  </a:lnTo>
                  <a:lnTo>
                    <a:pt x="2857830" y="86664"/>
                  </a:lnTo>
                  <a:lnTo>
                    <a:pt x="2866174" y="128587"/>
                  </a:lnTo>
                  <a:lnTo>
                    <a:pt x="2866174" y="900112"/>
                  </a:lnTo>
                  <a:lnTo>
                    <a:pt x="2857830" y="942022"/>
                  </a:lnTo>
                  <a:lnTo>
                    <a:pt x="2834551" y="977061"/>
                  </a:lnTo>
                  <a:lnTo>
                    <a:pt x="2834094" y="977569"/>
                  </a:lnTo>
                  <a:lnTo>
                    <a:pt x="2798546" y="1001306"/>
                  </a:lnTo>
                  <a:lnTo>
                    <a:pt x="2756636" y="1009650"/>
                  </a:lnTo>
                  <a:lnTo>
                    <a:pt x="75349" y="1009650"/>
                  </a:lnTo>
                  <a:lnTo>
                    <a:pt x="33007" y="1000023"/>
                  </a:lnTo>
                  <a:lnTo>
                    <a:pt x="1079" y="967371"/>
                  </a:lnTo>
                  <a:lnTo>
                    <a:pt x="0" y="963269"/>
                  </a:lnTo>
                  <a:lnTo>
                    <a:pt x="609" y="967371"/>
                  </a:lnTo>
                  <a:lnTo>
                    <a:pt x="2413" y="974572"/>
                  </a:lnTo>
                  <a:lnTo>
                    <a:pt x="4851" y="981367"/>
                  </a:lnTo>
                  <a:lnTo>
                    <a:pt x="4953" y="981659"/>
                  </a:lnTo>
                  <a:lnTo>
                    <a:pt x="33007" y="1015860"/>
                  </a:lnTo>
                  <a:lnTo>
                    <a:pt x="75349" y="1028700"/>
                  </a:lnTo>
                  <a:lnTo>
                    <a:pt x="2756636" y="1028700"/>
                  </a:lnTo>
                  <a:lnTo>
                    <a:pt x="2805849" y="1018908"/>
                  </a:lnTo>
                  <a:lnTo>
                    <a:pt x="2847556" y="991031"/>
                  </a:lnTo>
                  <a:lnTo>
                    <a:pt x="2848013" y="990523"/>
                  </a:lnTo>
                  <a:lnTo>
                    <a:pt x="2856077" y="981659"/>
                  </a:lnTo>
                  <a:lnTo>
                    <a:pt x="2879725" y="937374"/>
                  </a:lnTo>
                  <a:lnTo>
                    <a:pt x="2885224" y="900112"/>
                  </a:lnTo>
                  <a:lnTo>
                    <a:pt x="2885224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38550" y="1800224"/>
              <a:ext cx="76200" cy="1028700"/>
            </a:xfrm>
            <a:custGeom>
              <a:avLst/>
              <a:gdLst/>
              <a:ahLst/>
              <a:cxnLst/>
              <a:rect l="l" t="t" r="r" b="b"/>
              <a:pathLst>
                <a:path w="76200" h="10287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952500"/>
                  </a:lnTo>
                  <a:lnTo>
                    <a:pt x="0" y="957503"/>
                  </a:lnTo>
                  <a:lnTo>
                    <a:pt x="15621" y="998994"/>
                  </a:lnTo>
                  <a:lnTo>
                    <a:pt x="51663" y="1024813"/>
                  </a:lnTo>
                  <a:lnTo>
                    <a:pt x="71196" y="1028700"/>
                  </a:lnTo>
                  <a:lnTo>
                    <a:pt x="76200" y="1028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92550" y="1843484"/>
            <a:ext cx="701675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30" dirty="0">
                <a:solidFill>
                  <a:srgbClr val="4B4A4A"/>
                </a:solidFill>
                <a:latin typeface="Arial Black"/>
                <a:cs typeface="Arial Black"/>
              </a:rPr>
              <a:t>Credit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84.93M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025" y="3000374"/>
            <a:ext cx="2905125" cy="1028700"/>
            <a:chOff x="581025" y="3000374"/>
            <a:chExt cx="2905125" cy="1028700"/>
          </a:xfrm>
        </p:grpSpPr>
        <p:sp>
          <p:nvSpPr>
            <p:cNvPr id="17" name="object 17"/>
            <p:cNvSpPr/>
            <p:nvPr/>
          </p:nvSpPr>
          <p:spPr>
            <a:xfrm>
              <a:off x="600075" y="3009899"/>
              <a:ext cx="2876550" cy="1009650"/>
            </a:xfrm>
            <a:custGeom>
              <a:avLst/>
              <a:gdLst/>
              <a:ahLst/>
              <a:cxnLst/>
              <a:rect l="l" t="t" r="r" b="b"/>
              <a:pathLst>
                <a:path w="2876550" h="1009650">
                  <a:moveTo>
                    <a:pt x="2765310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942975"/>
                  </a:lnTo>
                  <a:lnTo>
                    <a:pt x="0" y="947356"/>
                  </a:lnTo>
                  <a:lnTo>
                    <a:pt x="15622" y="983653"/>
                  </a:lnTo>
                  <a:lnTo>
                    <a:pt x="51663" y="1006246"/>
                  </a:lnTo>
                  <a:lnTo>
                    <a:pt x="71194" y="1009650"/>
                  </a:lnTo>
                  <a:lnTo>
                    <a:pt x="2765310" y="1009650"/>
                  </a:lnTo>
                  <a:lnTo>
                    <a:pt x="2810268" y="997597"/>
                  </a:lnTo>
                  <a:lnTo>
                    <a:pt x="2847200" y="969251"/>
                  </a:lnTo>
                  <a:lnTo>
                    <a:pt x="2870479" y="928928"/>
                  </a:lnTo>
                  <a:lnTo>
                    <a:pt x="2876550" y="898410"/>
                  </a:lnTo>
                  <a:lnTo>
                    <a:pt x="2876550" y="111239"/>
                  </a:lnTo>
                  <a:lnTo>
                    <a:pt x="2864497" y="66268"/>
                  </a:lnTo>
                  <a:lnTo>
                    <a:pt x="2836151" y="29349"/>
                  </a:lnTo>
                  <a:lnTo>
                    <a:pt x="2795828" y="6070"/>
                  </a:lnTo>
                  <a:lnTo>
                    <a:pt x="2773045" y="762"/>
                  </a:lnTo>
                  <a:lnTo>
                    <a:pt x="276531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913" y="3000387"/>
              <a:ext cx="2885440" cy="1028700"/>
            </a:xfrm>
            <a:custGeom>
              <a:avLst/>
              <a:gdLst/>
              <a:ahLst/>
              <a:cxnLst/>
              <a:rect l="l" t="t" r="r" b="b"/>
              <a:pathLst>
                <a:path w="2885440" h="1028700">
                  <a:moveTo>
                    <a:pt x="2885224" y="128587"/>
                  </a:moveTo>
                  <a:lnTo>
                    <a:pt x="2875432" y="79375"/>
                  </a:lnTo>
                  <a:lnTo>
                    <a:pt x="2848013" y="38163"/>
                  </a:lnTo>
                  <a:lnTo>
                    <a:pt x="2847848" y="37973"/>
                  </a:lnTo>
                  <a:lnTo>
                    <a:pt x="2847568" y="37655"/>
                  </a:lnTo>
                  <a:lnTo>
                    <a:pt x="2838170" y="29121"/>
                  </a:lnTo>
                  <a:lnTo>
                    <a:pt x="2828099" y="21640"/>
                  </a:lnTo>
                  <a:lnTo>
                    <a:pt x="2823756" y="19050"/>
                  </a:lnTo>
                  <a:lnTo>
                    <a:pt x="2817317" y="15189"/>
                  </a:lnTo>
                  <a:lnTo>
                    <a:pt x="2769311" y="609"/>
                  </a:lnTo>
                  <a:lnTo>
                    <a:pt x="2756636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756636" y="19050"/>
                  </a:lnTo>
                  <a:lnTo>
                    <a:pt x="2798559" y="27381"/>
                  </a:lnTo>
                  <a:lnTo>
                    <a:pt x="2834094" y="51130"/>
                  </a:lnTo>
                  <a:lnTo>
                    <a:pt x="2857830" y="86664"/>
                  </a:lnTo>
                  <a:lnTo>
                    <a:pt x="2866174" y="128587"/>
                  </a:lnTo>
                  <a:lnTo>
                    <a:pt x="2866174" y="900112"/>
                  </a:lnTo>
                  <a:lnTo>
                    <a:pt x="2857830" y="942022"/>
                  </a:lnTo>
                  <a:lnTo>
                    <a:pt x="2834551" y="977061"/>
                  </a:lnTo>
                  <a:lnTo>
                    <a:pt x="2834094" y="977569"/>
                  </a:lnTo>
                  <a:lnTo>
                    <a:pt x="2798559" y="1001306"/>
                  </a:lnTo>
                  <a:lnTo>
                    <a:pt x="2756636" y="1009650"/>
                  </a:lnTo>
                  <a:lnTo>
                    <a:pt x="75349" y="1009650"/>
                  </a:lnTo>
                  <a:lnTo>
                    <a:pt x="33007" y="1000023"/>
                  </a:lnTo>
                  <a:lnTo>
                    <a:pt x="1092" y="967371"/>
                  </a:lnTo>
                  <a:lnTo>
                    <a:pt x="0" y="963256"/>
                  </a:lnTo>
                  <a:lnTo>
                    <a:pt x="609" y="967371"/>
                  </a:lnTo>
                  <a:lnTo>
                    <a:pt x="21475" y="1006386"/>
                  </a:lnTo>
                  <a:lnTo>
                    <a:pt x="60490" y="1027239"/>
                  </a:lnTo>
                  <a:lnTo>
                    <a:pt x="75349" y="1028700"/>
                  </a:lnTo>
                  <a:lnTo>
                    <a:pt x="2756636" y="1028700"/>
                  </a:lnTo>
                  <a:lnTo>
                    <a:pt x="2805849" y="1018908"/>
                  </a:lnTo>
                  <a:lnTo>
                    <a:pt x="2847556" y="991031"/>
                  </a:lnTo>
                  <a:lnTo>
                    <a:pt x="2848013" y="990523"/>
                  </a:lnTo>
                  <a:lnTo>
                    <a:pt x="2856077" y="981659"/>
                  </a:lnTo>
                  <a:lnTo>
                    <a:pt x="2879725" y="937374"/>
                  </a:lnTo>
                  <a:lnTo>
                    <a:pt x="2885224" y="900112"/>
                  </a:lnTo>
                  <a:lnTo>
                    <a:pt x="2885224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1025" y="3000374"/>
              <a:ext cx="76200" cy="1028700"/>
            </a:xfrm>
            <a:custGeom>
              <a:avLst/>
              <a:gdLst/>
              <a:ahLst/>
              <a:cxnLst/>
              <a:rect l="l" t="t" r="r" b="b"/>
              <a:pathLst>
                <a:path w="76200" h="1028700">
                  <a:moveTo>
                    <a:pt x="76200" y="0"/>
                  </a:moveTo>
                  <a:lnTo>
                    <a:pt x="71194" y="0"/>
                  </a:lnTo>
                  <a:lnTo>
                    <a:pt x="66243" y="482"/>
                  </a:lnTo>
                  <a:lnTo>
                    <a:pt x="29706" y="15621"/>
                  </a:lnTo>
                  <a:lnTo>
                    <a:pt x="3884" y="51663"/>
                  </a:lnTo>
                  <a:lnTo>
                    <a:pt x="0" y="71196"/>
                  </a:lnTo>
                  <a:lnTo>
                    <a:pt x="0" y="952500"/>
                  </a:lnTo>
                  <a:lnTo>
                    <a:pt x="0" y="957503"/>
                  </a:lnTo>
                  <a:lnTo>
                    <a:pt x="15622" y="998994"/>
                  </a:lnTo>
                  <a:lnTo>
                    <a:pt x="51663" y="1024813"/>
                  </a:lnTo>
                  <a:lnTo>
                    <a:pt x="71194" y="1028700"/>
                  </a:lnTo>
                  <a:lnTo>
                    <a:pt x="76200" y="10287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628650" y="4791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8650" y="51244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1"/>
                </a:lnTo>
                <a:lnTo>
                  <a:pt x="32364" y="57151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8650" y="54578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84"/>
                </a:lnTo>
                <a:lnTo>
                  <a:pt x="0" y="32359"/>
                </a:lnTo>
                <a:lnTo>
                  <a:pt x="24785" y="57144"/>
                </a:lnTo>
                <a:lnTo>
                  <a:pt x="32364" y="57144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8650" y="579120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84"/>
                </a:lnTo>
                <a:lnTo>
                  <a:pt x="0" y="32359"/>
                </a:lnTo>
                <a:lnTo>
                  <a:pt x="24785" y="57144"/>
                </a:lnTo>
                <a:lnTo>
                  <a:pt x="32364" y="57144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310"/>
              </a:spcBef>
            </a:pPr>
            <a:r>
              <a:rPr spc="-10" dirty="0"/>
              <a:t>Transfers</a:t>
            </a:r>
          </a:p>
          <a:p>
            <a:pPr marL="260350">
              <a:lnSpc>
                <a:spcPct val="100000"/>
              </a:lnSpc>
              <a:spcBef>
                <a:spcPts val="945"/>
              </a:spcBef>
            </a:pPr>
            <a:r>
              <a:rPr sz="1350" spc="-10" dirty="0">
                <a:latin typeface="Verdana"/>
                <a:cs typeface="Verdana"/>
              </a:rPr>
              <a:t>84.8M</a:t>
            </a:r>
            <a:endParaRPr sz="1350">
              <a:latin typeface="Verdana"/>
              <a:cs typeface="Verdana"/>
            </a:endParaRPr>
          </a:p>
          <a:p>
            <a:pPr marL="286385" marR="2068830" indent="-274320">
              <a:lnSpc>
                <a:spcPct val="226900"/>
              </a:lnSpc>
              <a:spcBef>
                <a:spcPts val="1495"/>
              </a:spcBef>
            </a:pPr>
            <a:r>
              <a:rPr sz="1350" spc="-70" dirty="0">
                <a:latin typeface="Verdana"/>
                <a:cs typeface="Verdana"/>
              </a:rPr>
              <a:t>High-level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105" dirty="0">
                <a:latin typeface="Verdana"/>
                <a:cs typeface="Verdana"/>
              </a:rPr>
              <a:t>summary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of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all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45" dirty="0">
                <a:latin typeface="Verdana"/>
                <a:cs typeface="Verdana"/>
              </a:rPr>
              <a:t>transactions </a:t>
            </a:r>
            <a:r>
              <a:rPr sz="1350" spc="-55" dirty="0">
                <a:latin typeface="Verdana"/>
                <a:cs typeface="Verdana"/>
              </a:rPr>
              <a:t>Balanced</a:t>
            </a:r>
            <a:r>
              <a:rPr sz="1350" spc="-65" dirty="0">
                <a:latin typeface="Verdana"/>
                <a:cs typeface="Verdana"/>
              </a:rPr>
              <a:t> debit-</a:t>
            </a:r>
            <a:r>
              <a:rPr sz="1350" spc="-75" dirty="0">
                <a:latin typeface="Verdana"/>
                <a:cs typeface="Verdana"/>
              </a:rPr>
              <a:t>credit</a:t>
            </a:r>
            <a:r>
              <a:rPr sz="1350" spc="-65" dirty="0">
                <a:latin typeface="Verdana"/>
                <a:cs typeface="Verdana"/>
              </a:rPr>
              <a:t> </a:t>
            </a:r>
            <a:r>
              <a:rPr sz="1350" spc="-20" dirty="0">
                <a:latin typeface="Verdana"/>
                <a:cs typeface="Verdana"/>
              </a:rPr>
              <a:t>ratio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65" dirty="0">
                <a:latin typeface="Verdana"/>
                <a:cs typeface="Verdana"/>
              </a:rPr>
              <a:t>Monthly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trend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–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consistent,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slight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dip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in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December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62000"/>
              </a:lnSpc>
              <a:spcBef>
                <a:spcPts val="5"/>
              </a:spcBef>
            </a:pPr>
            <a:r>
              <a:rPr sz="1350" spc="-85" dirty="0">
                <a:latin typeface="Verdana"/>
                <a:cs typeface="Verdana"/>
              </a:rPr>
              <a:t>Payment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modes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–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almost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equal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usage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(Debit/Credit/Transfer) </a:t>
            </a:r>
            <a:r>
              <a:rPr sz="1350" spc="-80" dirty="0">
                <a:latin typeface="Verdana"/>
                <a:cs typeface="Verdana"/>
              </a:rPr>
              <a:t>Insights</a:t>
            </a:r>
            <a:r>
              <a:rPr sz="1350" spc="-90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–</a:t>
            </a:r>
            <a:r>
              <a:rPr sz="1350" spc="-85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stable</a:t>
            </a:r>
            <a:r>
              <a:rPr sz="1350" spc="-90" dirty="0">
                <a:latin typeface="Verdana"/>
                <a:cs typeface="Verdana"/>
              </a:rPr>
              <a:t> </a:t>
            </a:r>
            <a:r>
              <a:rPr sz="1350" spc="-80" dirty="0">
                <a:latin typeface="Verdana"/>
                <a:cs typeface="Verdana"/>
              </a:rPr>
              <a:t>and</a:t>
            </a:r>
            <a:r>
              <a:rPr sz="1350" spc="-85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balanced</a:t>
            </a:r>
            <a:r>
              <a:rPr sz="1350" spc="-85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financial</a:t>
            </a:r>
            <a:r>
              <a:rPr sz="1350" spc="-9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activity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9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Credit</a:t>
            </a:r>
            <a:r>
              <a:rPr spc="-245" dirty="0"/>
              <a:t> </a:t>
            </a:r>
            <a:r>
              <a:rPr spc="-270" dirty="0"/>
              <a:t>&amp;</a:t>
            </a:r>
            <a:r>
              <a:rPr spc="-240" dirty="0"/>
              <a:t> </a:t>
            </a:r>
            <a:r>
              <a:rPr spc="-95" dirty="0"/>
              <a:t>Debit</a:t>
            </a:r>
            <a:r>
              <a:rPr spc="-240" dirty="0"/>
              <a:t> </a:t>
            </a:r>
            <a:r>
              <a:rPr spc="-150" dirty="0"/>
              <a:t>Transaction</a:t>
            </a:r>
            <a:r>
              <a:rPr spc="-240" dirty="0"/>
              <a:t> </a:t>
            </a:r>
            <a:r>
              <a:rPr spc="-65" dirty="0"/>
              <a:t>Insights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085974"/>
            <a:ext cx="5029200" cy="3152775"/>
            <a:chOff x="600075" y="2085974"/>
            <a:chExt cx="5029200" cy="3152775"/>
          </a:xfrm>
        </p:grpSpPr>
        <p:sp>
          <p:nvSpPr>
            <p:cNvPr id="4" name="object 4"/>
            <p:cNvSpPr/>
            <p:nvPr/>
          </p:nvSpPr>
          <p:spPr>
            <a:xfrm>
              <a:off x="609600" y="2095499"/>
              <a:ext cx="5010150" cy="3133725"/>
            </a:xfrm>
            <a:custGeom>
              <a:avLst/>
              <a:gdLst/>
              <a:ahLst/>
              <a:cxnLst/>
              <a:rect l="l" t="t" r="r" b="b"/>
              <a:pathLst>
                <a:path w="5010150" h="3133725">
                  <a:moveTo>
                    <a:pt x="4898910" y="0"/>
                  </a:moveTo>
                  <a:lnTo>
                    <a:pt x="111244" y="0"/>
                  </a:lnTo>
                  <a:lnTo>
                    <a:pt x="103499" y="762"/>
                  </a:lnTo>
                  <a:lnTo>
                    <a:pt x="66278" y="12052"/>
                  </a:lnTo>
                  <a:lnTo>
                    <a:pt x="29343" y="40398"/>
                  </a:lnTo>
                  <a:lnTo>
                    <a:pt x="6071" y="80721"/>
                  </a:lnTo>
                  <a:lnTo>
                    <a:pt x="0" y="111239"/>
                  </a:lnTo>
                  <a:lnTo>
                    <a:pt x="0" y="3014662"/>
                  </a:lnTo>
                  <a:lnTo>
                    <a:pt x="0" y="3022473"/>
                  </a:lnTo>
                  <a:lnTo>
                    <a:pt x="12054" y="3067443"/>
                  </a:lnTo>
                  <a:lnTo>
                    <a:pt x="40402" y="3104376"/>
                  </a:lnTo>
                  <a:lnTo>
                    <a:pt x="80719" y="3127654"/>
                  </a:lnTo>
                  <a:lnTo>
                    <a:pt x="111244" y="3133726"/>
                  </a:lnTo>
                  <a:lnTo>
                    <a:pt x="4898910" y="3133726"/>
                  </a:lnTo>
                  <a:lnTo>
                    <a:pt x="4943868" y="3121671"/>
                  </a:lnTo>
                  <a:lnTo>
                    <a:pt x="4980800" y="3093323"/>
                  </a:lnTo>
                  <a:lnTo>
                    <a:pt x="5004079" y="3053003"/>
                  </a:lnTo>
                  <a:lnTo>
                    <a:pt x="5010150" y="3022473"/>
                  </a:lnTo>
                  <a:lnTo>
                    <a:pt x="5010150" y="111239"/>
                  </a:lnTo>
                  <a:lnTo>
                    <a:pt x="4998097" y="66268"/>
                  </a:lnTo>
                  <a:lnTo>
                    <a:pt x="4969751" y="29349"/>
                  </a:lnTo>
                  <a:lnTo>
                    <a:pt x="4929428" y="6070"/>
                  </a:lnTo>
                  <a:lnTo>
                    <a:pt x="4906645" y="762"/>
                  </a:lnTo>
                  <a:lnTo>
                    <a:pt x="489891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600" y="2095499"/>
              <a:ext cx="5010150" cy="3133725"/>
            </a:xfrm>
            <a:custGeom>
              <a:avLst/>
              <a:gdLst/>
              <a:ahLst/>
              <a:cxnLst/>
              <a:rect l="l" t="t" r="r" b="b"/>
              <a:pathLst>
                <a:path w="5010150" h="3133725">
                  <a:moveTo>
                    <a:pt x="0" y="3014662"/>
                  </a:moveTo>
                  <a:lnTo>
                    <a:pt x="0" y="119062"/>
                  </a:lnTo>
                  <a:lnTo>
                    <a:pt x="0" y="111239"/>
                  </a:lnTo>
                  <a:lnTo>
                    <a:pt x="764" y="103505"/>
                  </a:lnTo>
                  <a:lnTo>
                    <a:pt x="2287" y="95834"/>
                  </a:lnTo>
                  <a:lnTo>
                    <a:pt x="3815" y="88163"/>
                  </a:lnTo>
                  <a:lnTo>
                    <a:pt x="6071" y="80721"/>
                  </a:lnTo>
                  <a:lnTo>
                    <a:pt x="9063" y="73494"/>
                  </a:lnTo>
                  <a:lnTo>
                    <a:pt x="12054" y="66268"/>
                  </a:lnTo>
                  <a:lnTo>
                    <a:pt x="34870" y="34874"/>
                  </a:lnTo>
                  <a:lnTo>
                    <a:pt x="66278" y="12052"/>
                  </a:lnTo>
                  <a:lnTo>
                    <a:pt x="73501" y="9067"/>
                  </a:lnTo>
                  <a:lnTo>
                    <a:pt x="80719" y="6070"/>
                  </a:lnTo>
                  <a:lnTo>
                    <a:pt x="88165" y="3810"/>
                  </a:lnTo>
                  <a:lnTo>
                    <a:pt x="95835" y="2286"/>
                  </a:lnTo>
                  <a:lnTo>
                    <a:pt x="103499" y="762"/>
                  </a:lnTo>
                  <a:lnTo>
                    <a:pt x="111244" y="0"/>
                  </a:lnTo>
                  <a:lnTo>
                    <a:pt x="119062" y="0"/>
                  </a:lnTo>
                  <a:lnTo>
                    <a:pt x="4891087" y="0"/>
                  </a:lnTo>
                  <a:lnTo>
                    <a:pt x="4898910" y="0"/>
                  </a:lnTo>
                  <a:lnTo>
                    <a:pt x="4906645" y="762"/>
                  </a:lnTo>
                  <a:lnTo>
                    <a:pt x="4914315" y="2286"/>
                  </a:lnTo>
                  <a:lnTo>
                    <a:pt x="4921986" y="3810"/>
                  </a:lnTo>
                  <a:lnTo>
                    <a:pt x="4929428" y="6070"/>
                  </a:lnTo>
                  <a:lnTo>
                    <a:pt x="4936655" y="9067"/>
                  </a:lnTo>
                  <a:lnTo>
                    <a:pt x="4943868" y="12052"/>
                  </a:lnTo>
                  <a:lnTo>
                    <a:pt x="4975275" y="34874"/>
                  </a:lnTo>
                  <a:lnTo>
                    <a:pt x="4980800" y="40398"/>
                  </a:lnTo>
                  <a:lnTo>
                    <a:pt x="5001082" y="73494"/>
                  </a:lnTo>
                  <a:lnTo>
                    <a:pt x="5004079" y="80721"/>
                  </a:lnTo>
                  <a:lnTo>
                    <a:pt x="5006340" y="88163"/>
                  </a:lnTo>
                  <a:lnTo>
                    <a:pt x="5007864" y="95834"/>
                  </a:lnTo>
                  <a:lnTo>
                    <a:pt x="5009388" y="103505"/>
                  </a:lnTo>
                  <a:lnTo>
                    <a:pt x="5010150" y="111239"/>
                  </a:lnTo>
                  <a:lnTo>
                    <a:pt x="5010150" y="119062"/>
                  </a:lnTo>
                  <a:lnTo>
                    <a:pt x="5010150" y="3014662"/>
                  </a:lnTo>
                  <a:lnTo>
                    <a:pt x="5010150" y="3022473"/>
                  </a:lnTo>
                  <a:lnTo>
                    <a:pt x="5009388" y="3030220"/>
                  </a:lnTo>
                  <a:lnTo>
                    <a:pt x="5007864" y="3037890"/>
                  </a:lnTo>
                  <a:lnTo>
                    <a:pt x="5006340" y="3045548"/>
                  </a:lnTo>
                  <a:lnTo>
                    <a:pt x="5004079" y="3053003"/>
                  </a:lnTo>
                  <a:lnTo>
                    <a:pt x="5001082" y="3060230"/>
                  </a:lnTo>
                  <a:lnTo>
                    <a:pt x="4998097" y="3067443"/>
                  </a:lnTo>
                  <a:lnTo>
                    <a:pt x="4994427" y="3074314"/>
                  </a:lnTo>
                  <a:lnTo>
                    <a:pt x="4990084" y="3080807"/>
                  </a:lnTo>
                  <a:lnTo>
                    <a:pt x="4985740" y="3087311"/>
                  </a:lnTo>
                  <a:lnTo>
                    <a:pt x="4957229" y="3113659"/>
                  </a:lnTo>
                  <a:lnTo>
                    <a:pt x="4921986" y="3129911"/>
                  </a:lnTo>
                  <a:lnTo>
                    <a:pt x="4914315" y="3131433"/>
                  </a:lnTo>
                  <a:lnTo>
                    <a:pt x="4906645" y="3132961"/>
                  </a:lnTo>
                  <a:lnTo>
                    <a:pt x="4898910" y="3133726"/>
                  </a:lnTo>
                  <a:lnTo>
                    <a:pt x="4891087" y="3133726"/>
                  </a:lnTo>
                  <a:lnTo>
                    <a:pt x="119062" y="3133726"/>
                  </a:lnTo>
                  <a:lnTo>
                    <a:pt x="111244" y="3133726"/>
                  </a:lnTo>
                  <a:lnTo>
                    <a:pt x="103499" y="3132961"/>
                  </a:lnTo>
                  <a:lnTo>
                    <a:pt x="95835" y="3131433"/>
                  </a:lnTo>
                  <a:lnTo>
                    <a:pt x="88165" y="3129911"/>
                  </a:lnTo>
                  <a:lnTo>
                    <a:pt x="80719" y="3127654"/>
                  </a:lnTo>
                  <a:lnTo>
                    <a:pt x="73501" y="3124662"/>
                  </a:lnTo>
                  <a:lnTo>
                    <a:pt x="66278" y="3121671"/>
                  </a:lnTo>
                  <a:lnTo>
                    <a:pt x="34870" y="3098850"/>
                  </a:lnTo>
                  <a:lnTo>
                    <a:pt x="20067" y="3080807"/>
                  </a:lnTo>
                  <a:lnTo>
                    <a:pt x="15721" y="3074314"/>
                  </a:lnTo>
                  <a:lnTo>
                    <a:pt x="2287" y="3037890"/>
                  </a:lnTo>
                  <a:lnTo>
                    <a:pt x="0" y="3022473"/>
                  </a:lnTo>
                  <a:lnTo>
                    <a:pt x="0" y="3014662"/>
                  </a:lnTo>
                  <a:close/>
                </a:path>
              </a:pathLst>
            </a:custGeom>
            <a:ln w="19050">
              <a:solidFill>
                <a:srgbClr val="7F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125" y="2105024"/>
              <a:ext cx="4991100" cy="509905"/>
            </a:xfrm>
            <a:custGeom>
              <a:avLst/>
              <a:gdLst/>
              <a:ahLst/>
              <a:cxnLst/>
              <a:rect l="l" t="t" r="r" b="b"/>
              <a:pathLst>
                <a:path w="4991100" h="509905">
                  <a:moveTo>
                    <a:pt x="4888750" y="0"/>
                  </a:moveTo>
                  <a:lnTo>
                    <a:pt x="102344" y="0"/>
                  </a:lnTo>
                  <a:lnTo>
                    <a:pt x="95220" y="698"/>
                  </a:lnTo>
                  <a:lnTo>
                    <a:pt x="54659" y="14465"/>
                  </a:lnTo>
                  <a:lnTo>
                    <a:pt x="22458" y="42697"/>
                  </a:lnTo>
                  <a:lnTo>
                    <a:pt x="3507" y="81114"/>
                  </a:lnTo>
                  <a:lnTo>
                    <a:pt x="0" y="102349"/>
                  </a:lnTo>
                  <a:lnTo>
                    <a:pt x="0" y="509587"/>
                  </a:lnTo>
                  <a:lnTo>
                    <a:pt x="4991100" y="509587"/>
                  </a:lnTo>
                  <a:lnTo>
                    <a:pt x="4991100" y="102349"/>
                  </a:lnTo>
                  <a:lnTo>
                    <a:pt x="4980012" y="60972"/>
                  </a:lnTo>
                  <a:lnTo>
                    <a:pt x="4953927" y="27000"/>
                  </a:lnTo>
                  <a:lnTo>
                    <a:pt x="4916830" y="5588"/>
                  </a:lnTo>
                  <a:lnTo>
                    <a:pt x="4888750" y="0"/>
                  </a:lnTo>
                  <a:close/>
                </a:path>
              </a:pathLst>
            </a:custGeom>
            <a:solidFill>
              <a:srgbClr val="7F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125" y="2609849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49911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991100" y="95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9818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150" y="3267087"/>
              <a:ext cx="57150" cy="1666875"/>
            </a:xfrm>
            <a:custGeom>
              <a:avLst/>
              <a:gdLst/>
              <a:ahLst/>
              <a:cxnLst/>
              <a:rect l="l" t="t" r="r" b="b"/>
              <a:pathLst>
                <a:path w="57150" h="1666875">
                  <a:moveTo>
                    <a:pt x="57150" y="1634502"/>
                  </a:moveTo>
                  <a:lnTo>
                    <a:pt x="32359" y="1609712"/>
                  </a:lnTo>
                  <a:lnTo>
                    <a:pt x="24777" y="1609712"/>
                  </a:lnTo>
                  <a:lnTo>
                    <a:pt x="0" y="1634502"/>
                  </a:lnTo>
                  <a:lnTo>
                    <a:pt x="0" y="1642071"/>
                  </a:lnTo>
                  <a:lnTo>
                    <a:pt x="24777" y="1666862"/>
                  </a:lnTo>
                  <a:lnTo>
                    <a:pt x="32359" y="1666862"/>
                  </a:lnTo>
                  <a:lnTo>
                    <a:pt x="57150" y="1642071"/>
                  </a:lnTo>
                  <a:lnTo>
                    <a:pt x="57150" y="1638287"/>
                  </a:lnTo>
                  <a:lnTo>
                    <a:pt x="57150" y="1634502"/>
                  </a:lnTo>
                  <a:close/>
                </a:path>
                <a:path w="57150" h="1666875">
                  <a:moveTo>
                    <a:pt x="57150" y="1024902"/>
                  </a:moveTo>
                  <a:lnTo>
                    <a:pt x="32359" y="1000112"/>
                  </a:lnTo>
                  <a:lnTo>
                    <a:pt x="24777" y="1000112"/>
                  </a:lnTo>
                  <a:lnTo>
                    <a:pt x="0" y="1024902"/>
                  </a:lnTo>
                  <a:lnTo>
                    <a:pt x="0" y="1032471"/>
                  </a:lnTo>
                  <a:lnTo>
                    <a:pt x="24777" y="1057262"/>
                  </a:lnTo>
                  <a:lnTo>
                    <a:pt x="32359" y="1057262"/>
                  </a:lnTo>
                  <a:lnTo>
                    <a:pt x="57150" y="1032471"/>
                  </a:lnTo>
                  <a:lnTo>
                    <a:pt x="57150" y="1028687"/>
                  </a:lnTo>
                  <a:lnTo>
                    <a:pt x="57150" y="1024902"/>
                  </a:lnTo>
                  <a:close/>
                </a:path>
                <a:path w="57150" h="1666875">
                  <a:moveTo>
                    <a:pt x="57150" y="691527"/>
                  </a:moveTo>
                  <a:lnTo>
                    <a:pt x="32359" y="666737"/>
                  </a:lnTo>
                  <a:lnTo>
                    <a:pt x="24777" y="666737"/>
                  </a:lnTo>
                  <a:lnTo>
                    <a:pt x="0" y="691527"/>
                  </a:lnTo>
                  <a:lnTo>
                    <a:pt x="0" y="699096"/>
                  </a:lnTo>
                  <a:lnTo>
                    <a:pt x="24777" y="723887"/>
                  </a:lnTo>
                  <a:lnTo>
                    <a:pt x="32359" y="723887"/>
                  </a:lnTo>
                  <a:lnTo>
                    <a:pt x="57150" y="699096"/>
                  </a:lnTo>
                  <a:lnTo>
                    <a:pt x="57150" y="695312"/>
                  </a:lnTo>
                  <a:lnTo>
                    <a:pt x="57150" y="691527"/>
                  </a:lnTo>
                  <a:close/>
                </a:path>
                <a:path w="57150" h="1666875">
                  <a:moveTo>
                    <a:pt x="57150" y="358165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666875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4B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7875" y="2643584"/>
            <a:ext cx="4465955" cy="23660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40" dirty="0">
                <a:solidFill>
                  <a:srgbClr val="4B4A4A"/>
                </a:solidFill>
                <a:latin typeface="Arial Black"/>
                <a:cs typeface="Arial Black"/>
              </a:rPr>
              <a:t>Credit</a:t>
            </a:r>
            <a:r>
              <a:rPr sz="1650" spc="-100" dirty="0">
                <a:solidFill>
                  <a:srgbClr val="4B4A4A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4B4A4A"/>
                </a:solidFill>
                <a:latin typeface="Arial Black"/>
                <a:cs typeface="Arial Black"/>
              </a:rPr>
              <a:t>Dashboard:</a:t>
            </a:r>
            <a:endParaRPr sz="1650">
              <a:latin typeface="Arial Black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945"/>
              </a:spcBef>
            </a:pP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Total 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Volume: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84.93M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62000"/>
              </a:lnSpc>
            </a:pP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Top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Banks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–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Kotak,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0" dirty="0">
                <a:solidFill>
                  <a:srgbClr val="4B4A4A"/>
                </a:solidFill>
                <a:latin typeface="Verdana"/>
                <a:cs typeface="Verdana"/>
              </a:rPr>
              <a:t>ICICI,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40" dirty="0">
                <a:solidFill>
                  <a:srgbClr val="4B4A4A"/>
                </a:solidFill>
                <a:latin typeface="Verdana"/>
                <a:cs typeface="Verdana"/>
              </a:rPr>
              <a:t>SBI,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Axis,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HDFC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10" dirty="0">
                <a:solidFill>
                  <a:srgbClr val="4B4A4A"/>
                </a:solidFill>
                <a:latin typeface="Verdana"/>
                <a:cs typeface="Verdana"/>
              </a:rPr>
              <a:t>(~21M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each)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Top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Branch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–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East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Branch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(21.53M)</a:t>
            </a:r>
            <a:endParaRPr sz="1350">
              <a:latin typeface="Verdana"/>
              <a:cs typeface="Verdana"/>
            </a:endParaRPr>
          </a:p>
          <a:p>
            <a:pPr marL="286385" marR="205740">
              <a:lnSpc>
                <a:spcPct val="134300"/>
              </a:lnSpc>
              <a:spcBef>
                <a:spcPts val="450"/>
              </a:spcBef>
            </a:pP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Key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Customers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–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Michael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Smith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0" dirty="0">
                <a:solidFill>
                  <a:srgbClr val="4B4A4A"/>
                </a:solidFill>
                <a:latin typeface="Verdana"/>
                <a:cs typeface="Verdana"/>
              </a:rPr>
              <a:t>(80K),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David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Smith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(62K)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Even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distribution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banks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customers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00725" y="2085974"/>
            <a:ext cx="5029200" cy="3152775"/>
            <a:chOff x="5800725" y="2085974"/>
            <a:chExt cx="5029200" cy="3152775"/>
          </a:xfrm>
        </p:grpSpPr>
        <p:sp>
          <p:nvSpPr>
            <p:cNvPr id="11" name="object 11"/>
            <p:cNvSpPr/>
            <p:nvPr/>
          </p:nvSpPr>
          <p:spPr>
            <a:xfrm>
              <a:off x="5810250" y="2095499"/>
              <a:ext cx="5010150" cy="3133725"/>
            </a:xfrm>
            <a:custGeom>
              <a:avLst/>
              <a:gdLst/>
              <a:ahLst/>
              <a:cxnLst/>
              <a:rect l="l" t="t" r="r" b="b"/>
              <a:pathLst>
                <a:path w="5010150" h="3133725">
                  <a:moveTo>
                    <a:pt x="4898910" y="0"/>
                  </a:moveTo>
                  <a:lnTo>
                    <a:pt x="111239" y="0"/>
                  </a:lnTo>
                  <a:lnTo>
                    <a:pt x="103505" y="762"/>
                  </a:lnTo>
                  <a:lnTo>
                    <a:pt x="66281" y="12052"/>
                  </a:lnTo>
                  <a:lnTo>
                    <a:pt x="29349" y="40398"/>
                  </a:lnTo>
                  <a:lnTo>
                    <a:pt x="6070" y="80721"/>
                  </a:lnTo>
                  <a:lnTo>
                    <a:pt x="0" y="111239"/>
                  </a:lnTo>
                  <a:lnTo>
                    <a:pt x="0" y="3014662"/>
                  </a:lnTo>
                  <a:lnTo>
                    <a:pt x="0" y="3022473"/>
                  </a:lnTo>
                  <a:lnTo>
                    <a:pt x="12052" y="3067443"/>
                  </a:lnTo>
                  <a:lnTo>
                    <a:pt x="40398" y="3104376"/>
                  </a:lnTo>
                  <a:lnTo>
                    <a:pt x="80721" y="3127654"/>
                  </a:lnTo>
                  <a:lnTo>
                    <a:pt x="111239" y="3133726"/>
                  </a:lnTo>
                  <a:lnTo>
                    <a:pt x="4898910" y="3133726"/>
                  </a:lnTo>
                  <a:lnTo>
                    <a:pt x="4943868" y="3121671"/>
                  </a:lnTo>
                  <a:lnTo>
                    <a:pt x="4980800" y="3093323"/>
                  </a:lnTo>
                  <a:lnTo>
                    <a:pt x="5004079" y="3053003"/>
                  </a:lnTo>
                  <a:lnTo>
                    <a:pt x="5010150" y="3022473"/>
                  </a:lnTo>
                  <a:lnTo>
                    <a:pt x="5010150" y="111239"/>
                  </a:lnTo>
                  <a:lnTo>
                    <a:pt x="4998097" y="66268"/>
                  </a:lnTo>
                  <a:lnTo>
                    <a:pt x="4969751" y="29349"/>
                  </a:lnTo>
                  <a:lnTo>
                    <a:pt x="4929428" y="6070"/>
                  </a:lnTo>
                  <a:lnTo>
                    <a:pt x="4906645" y="762"/>
                  </a:lnTo>
                  <a:lnTo>
                    <a:pt x="489891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10250" y="2095499"/>
              <a:ext cx="5010150" cy="3133725"/>
            </a:xfrm>
            <a:custGeom>
              <a:avLst/>
              <a:gdLst/>
              <a:ahLst/>
              <a:cxnLst/>
              <a:rect l="l" t="t" r="r" b="b"/>
              <a:pathLst>
                <a:path w="5010150" h="3133725">
                  <a:moveTo>
                    <a:pt x="0" y="3014662"/>
                  </a:moveTo>
                  <a:lnTo>
                    <a:pt x="0" y="119062"/>
                  </a:lnTo>
                  <a:lnTo>
                    <a:pt x="0" y="111239"/>
                  </a:lnTo>
                  <a:lnTo>
                    <a:pt x="762" y="103505"/>
                  </a:lnTo>
                  <a:lnTo>
                    <a:pt x="2286" y="95834"/>
                  </a:lnTo>
                  <a:lnTo>
                    <a:pt x="3810" y="88163"/>
                  </a:lnTo>
                  <a:lnTo>
                    <a:pt x="6070" y="80721"/>
                  </a:lnTo>
                  <a:lnTo>
                    <a:pt x="9067" y="73494"/>
                  </a:lnTo>
                  <a:lnTo>
                    <a:pt x="12052" y="66268"/>
                  </a:lnTo>
                  <a:lnTo>
                    <a:pt x="15722" y="59410"/>
                  </a:lnTo>
                  <a:lnTo>
                    <a:pt x="20066" y="52908"/>
                  </a:lnTo>
                  <a:lnTo>
                    <a:pt x="24409" y="46418"/>
                  </a:lnTo>
                  <a:lnTo>
                    <a:pt x="29349" y="40398"/>
                  </a:lnTo>
                  <a:lnTo>
                    <a:pt x="34874" y="34874"/>
                  </a:lnTo>
                  <a:lnTo>
                    <a:pt x="40398" y="29349"/>
                  </a:lnTo>
                  <a:lnTo>
                    <a:pt x="73507" y="9067"/>
                  </a:lnTo>
                  <a:lnTo>
                    <a:pt x="80721" y="6070"/>
                  </a:lnTo>
                  <a:lnTo>
                    <a:pt x="88163" y="3810"/>
                  </a:lnTo>
                  <a:lnTo>
                    <a:pt x="95834" y="2286"/>
                  </a:lnTo>
                  <a:lnTo>
                    <a:pt x="103505" y="762"/>
                  </a:lnTo>
                  <a:lnTo>
                    <a:pt x="111239" y="0"/>
                  </a:lnTo>
                  <a:lnTo>
                    <a:pt x="119062" y="0"/>
                  </a:lnTo>
                  <a:lnTo>
                    <a:pt x="4891087" y="0"/>
                  </a:lnTo>
                  <a:lnTo>
                    <a:pt x="4898910" y="0"/>
                  </a:lnTo>
                  <a:lnTo>
                    <a:pt x="4906645" y="762"/>
                  </a:lnTo>
                  <a:lnTo>
                    <a:pt x="4914315" y="2286"/>
                  </a:lnTo>
                  <a:lnTo>
                    <a:pt x="4921986" y="3810"/>
                  </a:lnTo>
                  <a:lnTo>
                    <a:pt x="4929428" y="6070"/>
                  </a:lnTo>
                  <a:lnTo>
                    <a:pt x="4936655" y="9067"/>
                  </a:lnTo>
                  <a:lnTo>
                    <a:pt x="4943868" y="12052"/>
                  </a:lnTo>
                  <a:lnTo>
                    <a:pt x="4975275" y="34874"/>
                  </a:lnTo>
                  <a:lnTo>
                    <a:pt x="4998097" y="66268"/>
                  </a:lnTo>
                  <a:lnTo>
                    <a:pt x="5001082" y="73494"/>
                  </a:lnTo>
                  <a:lnTo>
                    <a:pt x="5004079" y="80721"/>
                  </a:lnTo>
                  <a:lnTo>
                    <a:pt x="5006340" y="88163"/>
                  </a:lnTo>
                  <a:lnTo>
                    <a:pt x="5007864" y="95834"/>
                  </a:lnTo>
                  <a:lnTo>
                    <a:pt x="5009388" y="103505"/>
                  </a:lnTo>
                  <a:lnTo>
                    <a:pt x="5010150" y="111239"/>
                  </a:lnTo>
                  <a:lnTo>
                    <a:pt x="5010150" y="119062"/>
                  </a:lnTo>
                  <a:lnTo>
                    <a:pt x="5010150" y="3014662"/>
                  </a:lnTo>
                  <a:lnTo>
                    <a:pt x="5010150" y="3022473"/>
                  </a:lnTo>
                  <a:lnTo>
                    <a:pt x="5009388" y="3030220"/>
                  </a:lnTo>
                  <a:lnTo>
                    <a:pt x="5007864" y="3037890"/>
                  </a:lnTo>
                  <a:lnTo>
                    <a:pt x="5006340" y="3045548"/>
                  </a:lnTo>
                  <a:lnTo>
                    <a:pt x="5004079" y="3053003"/>
                  </a:lnTo>
                  <a:lnTo>
                    <a:pt x="5001082" y="3060230"/>
                  </a:lnTo>
                  <a:lnTo>
                    <a:pt x="4998097" y="3067443"/>
                  </a:lnTo>
                  <a:lnTo>
                    <a:pt x="4994427" y="3074314"/>
                  </a:lnTo>
                  <a:lnTo>
                    <a:pt x="4990084" y="3080807"/>
                  </a:lnTo>
                  <a:lnTo>
                    <a:pt x="4985740" y="3087311"/>
                  </a:lnTo>
                  <a:lnTo>
                    <a:pt x="4957241" y="3113659"/>
                  </a:lnTo>
                  <a:lnTo>
                    <a:pt x="4921986" y="3129911"/>
                  </a:lnTo>
                  <a:lnTo>
                    <a:pt x="4914315" y="3131433"/>
                  </a:lnTo>
                  <a:lnTo>
                    <a:pt x="4906645" y="3132961"/>
                  </a:lnTo>
                  <a:lnTo>
                    <a:pt x="4898910" y="3133726"/>
                  </a:lnTo>
                  <a:lnTo>
                    <a:pt x="4891087" y="3133726"/>
                  </a:lnTo>
                  <a:lnTo>
                    <a:pt x="119062" y="3133726"/>
                  </a:lnTo>
                  <a:lnTo>
                    <a:pt x="111239" y="3133726"/>
                  </a:lnTo>
                  <a:lnTo>
                    <a:pt x="103505" y="3132961"/>
                  </a:lnTo>
                  <a:lnTo>
                    <a:pt x="95834" y="3131433"/>
                  </a:lnTo>
                  <a:lnTo>
                    <a:pt x="88163" y="3129911"/>
                  </a:lnTo>
                  <a:lnTo>
                    <a:pt x="80721" y="3127654"/>
                  </a:lnTo>
                  <a:lnTo>
                    <a:pt x="73507" y="3124662"/>
                  </a:lnTo>
                  <a:lnTo>
                    <a:pt x="66281" y="3121671"/>
                  </a:lnTo>
                  <a:lnTo>
                    <a:pt x="34874" y="3098850"/>
                  </a:lnTo>
                  <a:lnTo>
                    <a:pt x="20066" y="3080807"/>
                  </a:lnTo>
                  <a:lnTo>
                    <a:pt x="15722" y="3074314"/>
                  </a:lnTo>
                  <a:lnTo>
                    <a:pt x="12052" y="3067443"/>
                  </a:lnTo>
                  <a:lnTo>
                    <a:pt x="9067" y="3060230"/>
                  </a:lnTo>
                  <a:lnTo>
                    <a:pt x="6070" y="3053003"/>
                  </a:lnTo>
                  <a:lnTo>
                    <a:pt x="3810" y="3045548"/>
                  </a:lnTo>
                  <a:lnTo>
                    <a:pt x="2286" y="3037890"/>
                  </a:lnTo>
                  <a:lnTo>
                    <a:pt x="762" y="3030220"/>
                  </a:lnTo>
                  <a:lnTo>
                    <a:pt x="0" y="3022473"/>
                  </a:lnTo>
                  <a:lnTo>
                    <a:pt x="0" y="3014662"/>
                  </a:lnTo>
                  <a:close/>
                </a:path>
              </a:pathLst>
            </a:custGeom>
            <a:ln w="19050">
              <a:solidFill>
                <a:srgbClr val="FFA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19775" y="2105024"/>
              <a:ext cx="4991100" cy="509905"/>
            </a:xfrm>
            <a:custGeom>
              <a:avLst/>
              <a:gdLst/>
              <a:ahLst/>
              <a:cxnLst/>
              <a:rect l="l" t="t" r="r" b="b"/>
              <a:pathLst>
                <a:path w="4991100" h="509905">
                  <a:moveTo>
                    <a:pt x="4888750" y="0"/>
                  </a:moveTo>
                  <a:lnTo>
                    <a:pt x="102349" y="0"/>
                  </a:lnTo>
                  <a:lnTo>
                    <a:pt x="95224" y="698"/>
                  </a:lnTo>
                  <a:lnTo>
                    <a:pt x="54660" y="14465"/>
                  </a:lnTo>
                  <a:lnTo>
                    <a:pt x="22453" y="42697"/>
                  </a:lnTo>
                  <a:lnTo>
                    <a:pt x="3505" y="81114"/>
                  </a:lnTo>
                  <a:lnTo>
                    <a:pt x="0" y="102349"/>
                  </a:lnTo>
                  <a:lnTo>
                    <a:pt x="0" y="509587"/>
                  </a:lnTo>
                  <a:lnTo>
                    <a:pt x="4991100" y="509587"/>
                  </a:lnTo>
                  <a:lnTo>
                    <a:pt x="4991100" y="102349"/>
                  </a:lnTo>
                  <a:lnTo>
                    <a:pt x="4980012" y="60972"/>
                  </a:lnTo>
                  <a:lnTo>
                    <a:pt x="4953927" y="27000"/>
                  </a:lnTo>
                  <a:lnTo>
                    <a:pt x="4916830" y="5588"/>
                  </a:lnTo>
                  <a:lnTo>
                    <a:pt x="4888750" y="0"/>
                  </a:lnTo>
                  <a:close/>
                </a:path>
              </a:pathLst>
            </a:custGeom>
            <a:solidFill>
              <a:srgbClr val="FFA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19775" y="2609849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49911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991100" y="9525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E58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19800" y="3267087"/>
              <a:ext cx="57150" cy="1666875"/>
            </a:xfrm>
            <a:custGeom>
              <a:avLst/>
              <a:gdLst/>
              <a:ahLst/>
              <a:cxnLst/>
              <a:rect l="l" t="t" r="r" b="b"/>
              <a:pathLst>
                <a:path w="57150" h="1666875">
                  <a:moveTo>
                    <a:pt x="57150" y="1634502"/>
                  </a:moveTo>
                  <a:lnTo>
                    <a:pt x="32346" y="1609712"/>
                  </a:lnTo>
                  <a:lnTo>
                    <a:pt x="24790" y="1609712"/>
                  </a:lnTo>
                  <a:lnTo>
                    <a:pt x="0" y="1634502"/>
                  </a:lnTo>
                  <a:lnTo>
                    <a:pt x="0" y="1642071"/>
                  </a:lnTo>
                  <a:lnTo>
                    <a:pt x="24790" y="1666862"/>
                  </a:lnTo>
                  <a:lnTo>
                    <a:pt x="32346" y="1666862"/>
                  </a:lnTo>
                  <a:lnTo>
                    <a:pt x="57150" y="1642071"/>
                  </a:lnTo>
                  <a:lnTo>
                    <a:pt x="57150" y="1638287"/>
                  </a:lnTo>
                  <a:lnTo>
                    <a:pt x="57150" y="1634502"/>
                  </a:lnTo>
                  <a:close/>
                </a:path>
                <a:path w="57150" h="1666875">
                  <a:moveTo>
                    <a:pt x="57150" y="1024902"/>
                  </a:moveTo>
                  <a:lnTo>
                    <a:pt x="32346" y="1000112"/>
                  </a:lnTo>
                  <a:lnTo>
                    <a:pt x="24790" y="1000112"/>
                  </a:lnTo>
                  <a:lnTo>
                    <a:pt x="0" y="1024902"/>
                  </a:lnTo>
                  <a:lnTo>
                    <a:pt x="0" y="1032471"/>
                  </a:lnTo>
                  <a:lnTo>
                    <a:pt x="24790" y="1057262"/>
                  </a:lnTo>
                  <a:lnTo>
                    <a:pt x="32346" y="1057262"/>
                  </a:lnTo>
                  <a:lnTo>
                    <a:pt x="57150" y="1032471"/>
                  </a:lnTo>
                  <a:lnTo>
                    <a:pt x="57150" y="1028687"/>
                  </a:lnTo>
                  <a:lnTo>
                    <a:pt x="57150" y="1024902"/>
                  </a:lnTo>
                  <a:close/>
                </a:path>
                <a:path w="57150" h="1666875">
                  <a:moveTo>
                    <a:pt x="57150" y="691527"/>
                  </a:moveTo>
                  <a:lnTo>
                    <a:pt x="32346" y="666737"/>
                  </a:lnTo>
                  <a:lnTo>
                    <a:pt x="24790" y="666737"/>
                  </a:lnTo>
                  <a:lnTo>
                    <a:pt x="0" y="691527"/>
                  </a:lnTo>
                  <a:lnTo>
                    <a:pt x="0" y="699096"/>
                  </a:lnTo>
                  <a:lnTo>
                    <a:pt x="24790" y="723887"/>
                  </a:lnTo>
                  <a:lnTo>
                    <a:pt x="32346" y="723887"/>
                  </a:lnTo>
                  <a:lnTo>
                    <a:pt x="57150" y="699096"/>
                  </a:lnTo>
                  <a:lnTo>
                    <a:pt x="57150" y="695312"/>
                  </a:lnTo>
                  <a:lnTo>
                    <a:pt x="57150" y="691527"/>
                  </a:lnTo>
                  <a:close/>
                </a:path>
                <a:path w="57150" h="1666875">
                  <a:moveTo>
                    <a:pt x="57150" y="358165"/>
                  </a:moveTo>
                  <a:lnTo>
                    <a:pt x="32346" y="333375"/>
                  </a:lnTo>
                  <a:lnTo>
                    <a:pt x="24790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90" y="390525"/>
                  </a:lnTo>
                  <a:lnTo>
                    <a:pt x="32346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666875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4B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78525" y="2643584"/>
            <a:ext cx="4399280" cy="23660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35" dirty="0">
                <a:solidFill>
                  <a:srgbClr val="4B4A4A"/>
                </a:solidFill>
                <a:latin typeface="Arial Black"/>
                <a:cs typeface="Arial Black"/>
              </a:rPr>
              <a:t>Debit</a:t>
            </a:r>
            <a:r>
              <a:rPr sz="1650" spc="-105" dirty="0">
                <a:solidFill>
                  <a:srgbClr val="4B4A4A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4B4A4A"/>
                </a:solidFill>
                <a:latin typeface="Arial Black"/>
                <a:cs typeface="Arial Black"/>
              </a:rPr>
              <a:t>Dashboard:</a:t>
            </a:r>
            <a:endParaRPr sz="1650">
              <a:latin typeface="Arial Black"/>
              <a:cs typeface="Arial Black"/>
            </a:endParaRPr>
          </a:p>
          <a:p>
            <a:pPr marL="286385" marR="1165860">
              <a:lnSpc>
                <a:spcPts val="2630"/>
              </a:lnSpc>
              <a:spcBef>
                <a:spcPts val="190"/>
              </a:spcBef>
            </a:pP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Avg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Debit: 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2.547K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60" dirty="0">
                <a:solidFill>
                  <a:srgbClr val="4B4A4A"/>
                </a:solidFill>
                <a:latin typeface="Verdana"/>
                <a:cs typeface="Verdana"/>
              </a:rPr>
              <a:t>|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Highest: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4,999.90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Top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Bank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–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Punjab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National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(22M)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Top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Branch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–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Main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Branch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(21.54M)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34300"/>
              </a:lnSpc>
              <a:spcBef>
                <a:spcPts val="180"/>
              </a:spcBef>
            </a:pP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Top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Customers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–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David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Smith,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Michael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Smith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(~49K–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48K)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Consistent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debit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activity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banks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branches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949325"/>
            <a:ext cx="45389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Project</a:t>
            </a:r>
            <a:r>
              <a:rPr spc="-220" dirty="0"/>
              <a:t> </a:t>
            </a:r>
            <a:r>
              <a:rPr spc="-240" dirty="0"/>
              <a:t>Process</a:t>
            </a:r>
            <a:r>
              <a:rPr spc="-215" dirty="0"/>
              <a:t> </a:t>
            </a:r>
            <a:r>
              <a:rPr spc="-35" dirty="0"/>
              <a:t>Flow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076449"/>
            <a:ext cx="5029200" cy="171450"/>
            <a:chOff x="600075" y="2076449"/>
            <a:chExt cx="5029200" cy="171450"/>
          </a:xfrm>
        </p:grpSpPr>
        <p:sp>
          <p:nvSpPr>
            <p:cNvPr id="4" name="object 4"/>
            <p:cNvSpPr/>
            <p:nvPr/>
          </p:nvSpPr>
          <p:spPr>
            <a:xfrm>
              <a:off x="604837" y="2081212"/>
              <a:ext cx="5019675" cy="161925"/>
            </a:xfrm>
            <a:custGeom>
              <a:avLst/>
              <a:gdLst/>
              <a:ahLst/>
              <a:cxnLst/>
              <a:rect l="l" t="t" r="r" b="b"/>
              <a:pathLst>
                <a:path w="5019675" h="161925">
                  <a:moveTo>
                    <a:pt x="4944021" y="0"/>
                  </a:moveTo>
                  <a:lnTo>
                    <a:pt x="75645" y="0"/>
                  </a:lnTo>
                  <a:lnTo>
                    <a:pt x="70380" y="520"/>
                  </a:lnTo>
                  <a:lnTo>
                    <a:pt x="31562" y="16598"/>
                  </a:lnTo>
                  <a:lnTo>
                    <a:pt x="4127" y="54889"/>
                  </a:lnTo>
                  <a:lnTo>
                    <a:pt x="0" y="75641"/>
                  </a:lnTo>
                  <a:lnTo>
                    <a:pt x="0" y="80962"/>
                  </a:lnTo>
                  <a:lnTo>
                    <a:pt x="0" y="86271"/>
                  </a:lnTo>
                  <a:lnTo>
                    <a:pt x="16598" y="130365"/>
                  </a:lnTo>
                  <a:lnTo>
                    <a:pt x="54893" y="157797"/>
                  </a:lnTo>
                  <a:lnTo>
                    <a:pt x="75645" y="161925"/>
                  </a:lnTo>
                  <a:lnTo>
                    <a:pt x="4944021" y="161925"/>
                  </a:lnTo>
                  <a:lnTo>
                    <a:pt x="4988115" y="145326"/>
                  </a:lnTo>
                  <a:lnTo>
                    <a:pt x="5015547" y="107035"/>
                  </a:lnTo>
                  <a:lnTo>
                    <a:pt x="5019675" y="86271"/>
                  </a:lnTo>
                  <a:lnTo>
                    <a:pt x="5019675" y="75641"/>
                  </a:lnTo>
                  <a:lnTo>
                    <a:pt x="5003076" y="31559"/>
                  </a:lnTo>
                  <a:lnTo>
                    <a:pt x="4964785" y="4127"/>
                  </a:lnTo>
                  <a:lnTo>
                    <a:pt x="4949291" y="520"/>
                  </a:lnTo>
                  <a:lnTo>
                    <a:pt x="4944021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37" y="2081212"/>
              <a:ext cx="5019675" cy="161925"/>
            </a:xfrm>
            <a:custGeom>
              <a:avLst/>
              <a:gdLst/>
              <a:ahLst/>
              <a:cxnLst/>
              <a:rect l="l" t="t" r="r" b="b"/>
              <a:pathLst>
                <a:path w="5019675" h="161925">
                  <a:moveTo>
                    <a:pt x="0" y="80962"/>
                  </a:moveTo>
                  <a:lnTo>
                    <a:pt x="0" y="75641"/>
                  </a:lnTo>
                  <a:lnTo>
                    <a:pt x="520" y="70383"/>
                  </a:lnTo>
                  <a:lnTo>
                    <a:pt x="16598" y="31559"/>
                  </a:lnTo>
                  <a:lnTo>
                    <a:pt x="49980" y="6159"/>
                  </a:lnTo>
                  <a:lnTo>
                    <a:pt x="75645" y="0"/>
                  </a:lnTo>
                  <a:lnTo>
                    <a:pt x="80962" y="0"/>
                  </a:lnTo>
                  <a:lnTo>
                    <a:pt x="4938712" y="0"/>
                  </a:lnTo>
                  <a:lnTo>
                    <a:pt x="4944021" y="0"/>
                  </a:lnTo>
                  <a:lnTo>
                    <a:pt x="4949291" y="520"/>
                  </a:lnTo>
                  <a:lnTo>
                    <a:pt x="4954511" y="1549"/>
                  </a:lnTo>
                  <a:lnTo>
                    <a:pt x="4959718" y="2590"/>
                  </a:lnTo>
                  <a:lnTo>
                    <a:pt x="4964785" y="4127"/>
                  </a:lnTo>
                  <a:lnTo>
                    <a:pt x="4969687" y="6159"/>
                  </a:lnTo>
                  <a:lnTo>
                    <a:pt x="4974602" y="8191"/>
                  </a:lnTo>
                  <a:lnTo>
                    <a:pt x="4995964" y="23710"/>
                  </a:lnTo>
                  <a:lnTo>
                    <a:pt x="4999723" y="27470"/>
                  </a:lnTo>
                  <a:lnTo>
                    <a:pt x="5003076" y="31559"/>
                  </a:lnTo>
                  <a:lnTo>
                    <a:pt x="5006022" y="35979"/>
                  </a:lnTo>
                  <a:lnTo>
                    <a:pt x="5008981" y="40398"/>
                  </a:lnTo>
                  <a:lnTo>
                    <a:pt x="5018112" y="65163"/>
                  </a:lnTo>
                  <a:lnTo>
                    <a:pt x="5019154" y="70383"/>
                  </a:lnTo>
                  <a:lnTo>
                    <a:pt x="5019675" y="75641"/>
                  </a:lnTo>
                  <a:lnTo>
                    <a:pt x="5019675" y="80962"/>
                  </a:lnTo>
                  <a:lnTo>
                    <a:pt x="5019675" y="86271"/>
                  </a:lnTo>
                  <a:lnTo>
                    <a:pt x="5019154" y="91541"/>
                  </a:lnTo>
                  <a:lnTo>
                    <a:pt x="5018112" y="96761"/>
                  </a:lnTo>
                  <a:lnTo>
                    <a:pt x="5017084" y="101968"/>
                  </a:lnTo>
                  <a:lnTo>
                    <a:pt x="5006022" y="125945"/>
                  </a:lnTo>
                  <a:lnTo>
                    <a:pt x="5003076" y="130365"/>
                  </a:lnTo>
                  <a:lnTo>
                    <a:pt x="4999723" y="134454"/>
                  </a:lnTo>
                  <a:lnTo>
                    <a:pt x="4995964" y="138214"/>
                  </a:lnTo>
                  <a:lnTo>
                    <a:pt x="4992204" y="141973"/>
                  </a:lnTo>
                  <a:lnTo>
                    <a:pt x="4988115" y="145326"/>
                  </a:lnTo>
                  <a:lnTo>
                    <a:pt x="4983695" y="148272"/>
                  </a:lnTo>
                  <a:lnTo>
                    <a:pt x="4979276" y="151231"/>
                  </a:lnTo>
                  <a:lnTo>
                    <a:pt x="4954511" y="160362"/>
                  </a:lnTo>
                  <a:lnTo>
                    <a:pt x="4949291" y="161404"/>
                  </a:lnTo>
                  <a:lnTo>
                    <a:pt x="4944021" y="161925"/>
                  </a:lnTo>
                  <a:lnTo>
                    <a:pt x="4938712" y="161925"/>
                  </a:lnTo>
                  <a:lnTo>
                    <a:pt x="80962" y="161925"/>
                  </a:lnTo>
                  <a:lnTo>
                    <a:pt x="75645" y="161925"/>
                  </a:lnTo>
                  <a:lnTo>
                    <a:pt x="70380" y="161404"/>
                  </a:lnTo>
                  <a:lnTo>
                    <a:pt x="65167" y="160362"/>
                  </a:lnTo>
                  <a:lnTo>
                    <a:pt x="59952" y="159334"/>
                  </a:lnTo>
                  <a:lnTo>
                    <a:pt x="35981" y="148272"/>
                  </a:lnTo>
                  <a:lnTo>
                    <a:pt x="31562" y="145326"/>
                  </a:lnTo>
                  <a:lnTo>
                    <a:pt x="27473" y="141973"/>
                  </a:lnTo>
                  <a:lnTo>
                    <a:pt x="23713" y="138214"/>
                  </a:lnTo>
                  <a:lnTo>
                    <a:pt x="19952" y="134454"/>
                  </a:lnTo>
                  <a:lnTo>
                    <a:pt x="1558" y="96761"/>
                  </a:lnTo>
                  <a:lnTo>
                    <a:pt x="0" y="86271"/>
                  </a:lnTo>
                  <a:lnTo>
                    <a:pt x="0" y="80962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00100" y="2895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100" y="3228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8825" y="2272109"/>
            <a:ext cx="2363470" cy="108966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25" dirty="0">
                <a:solidFill>
                  <a:srgbClr val="4B4A4A"/>
                </a:solidFill>
                <a:latin typeface="Arial Black"/>
                <a:cs typeface="Arial Black"/>
              </a:rPr>
              <a:t>SQL</a:t>
            </a:r>
            <a:endParaRPr sz="1650">
              <a:latin typeface="Arial Black"/>
              <a:cs typeface="Arial Black"/>
            </a:endParaRPr>
          </a:p>
          <a:p>
            <a:pPr marL="286385" marR="5080">
              <a:lnSpc>
                <a:spcPts val="2630"/>
              </a:lnSpc>
              <a:spcBef>
                <a:spcPts val="30"/>
              </a:spcBef>
            </a:pP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cleaning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extraction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Removed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duplicates/nulls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00725" y="1819274"/>
            <a:ext cx="5029200" cy="171450"/>
            <a:chOff x="5800725" y="1819274"/>
            <a:chExt cx="5029200" cy="171450"/>
          </a:xfrm>
        </p:grpSpPr>
        <p:sp>
          <p:nvSpPr>
            <p:cNvPr id="10" name="object 10"/>
            <p:cNvSpPr/>
            <p:nvPr/>
          </p:nvSpPr>
          <p:spPr>
            <a:xfrm>
              <a:off x="5805487" y="1824037"/>
              <a:ext cx="5019675" cy="161925"/>
            </a:xfrm>
            <a:custGeom>
              <a:avLst/>
              <a:gdLst/>
              <a:ahLst/>
              <a:cxnLst/>
              <a:rect l="l" t="t" r="r" b="b"/>
              <a:pathLst>
                <a:path w="5019675" h="161925">
                  <a:moveTo>
                    <a:pt x="4944021" y="0"/>
                  </a:moveTo>
                  <a:lnTo>
                    <a:pt x="75641" y="0"/>
                  </a:lnTo>
                  <a:lnTo>
                    <a:pt x="70383" y="520"/>
                  </a:lnTo>
                  <a:lnTo>
                    <a:pt x="31559" y="16598"/>
                  </a:lnTo>
                  <a:lnTo>
                    <a:pt x="4127" y="54889"/>
                  </a:lnTo>
                  <a:lnTo>
                    <a:pt x="0" y="75641"/>
                  </a:lnTo>
                  <a:lnTo>
                    <a:pt x="0" y="80962"/>
                  </a:lnTo>
                  <a:lnTo>
                    <a:pt x="0" y="86271"/>
                  </a:lnTo>
                  <a:lnTo>
                    <a:pt x="16598" y="130365"/>
                  </a:lnTo>
                  <a:lnTo>
                    <a:pt x="54889" y="157797"/>
                  </a:lnTo>
                  <a:lnTo>
                    <a:pt x="75641" y="161925"/>
                  </a:lnTo>
                  <a:lnTo>
                    <a:pt x="4944021" y="161925"/>
                  </a:lnTo>
                  <a:lnTo>
                    <a:pt x="4988115" y="145326"/>
                  </a:lnTo>
                  <a:lnTo>
                    <a:pt x="5015547" y="107035"/>
                  </a:lnTo>
                  <a:lnTo>
                    <a:pt x="5019675" y="86271"/>
                  </a:lnTo>
                  <a:lnTo>
                    <a:pt x="5019675" y="75641"/>
                  </a:lnTo>
                  <a:lnTo>
                    <a:pt x="5003076" y="31559"/>
                  </a:lnTo>
                  <a:lnTo>
                    <a:pt x="4964785" y="4127"/>
                  </a:lnTo>
                  <a:lnTo>
                    <a:pt x="4949291" y="520"/>
                  </a:lnTo>
                  <a:lnTo>
                    <a:pt x="4944021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05487" y="1824037"/>
              <a:ext cx="5019675" cy="161925"/>
            </a:xfrm>
            <a:custGeom>
              <a:avLst/>
              <a:gdLst/>
              <a:ahLst/>
              <a:cxnLst/>
              <a:rect l="l" t="t" r="r" b="b"/>
              <a:pathLst>
                <a:path w="5019675" h="161925">
                  <a:moveTo>
                    <a:pt x="0" y="80962"/>
                  </a:moveTo>
                  <a:lnTo>
                    <a:pt x="0" y="75641"/>
                  </a:lnTo>
                  <a:lnTo>
                    <a:pt x="520" y="70383"/>
                  </a:lnTo>
                  <a:lnTo>
                    <a:pt x="16598" y="31559"/>
                  </a:lnTo>
                  <a:lnTo>
                    <a:pt x="23710" y="23710"/>
                  </a:lnTo>
                  <a:lnTo>
                    <a:pt x="27470" y="19951"/>
                  </a:lnTo>
                  <a:lnTo>
                    <a:pt x="49974" y="6159"/>
                  </a:lnTo>
                  <a:lnTo>
                    <a:pt x="54889" y="4127"/>
                  </a:lnTo>
                  <a:lnTo>
                    <a:pt x="59956" y="2590"/>
                  </a:lnTo>
                  <a:lnTo>
                    <a:pt x="65163" y="1549"/>
                  </a:lnTo>
                  <a:lnTo>
                    <a:pt x="70383" y="520"/>
                  </a:lnTo>
                  <a:lnTo>
                    <a:pt x="75641" y="0"/>
                  </a:lnTo>
                  <a:lnTo>
                    <a:pt x="80962" y="0"/>
                  </a:lnTo>
                  <a:lnTo>
                    <a:pt x="4938712" y="0"/>
                  </a:lnTo>
                  <a:lnTo>
                    <a:pt x="4944021" y="0"/>
                  </a:lnTo>
                  <a:lnTo>
                    <a:pt x="4949291" y="520"/>
                  </a:lnTo>
                  <a:lnTo>
                    <a:pt x="4954511" y="1549"/>
                  </a:lnTo>
                  <a:lnTo>
                    <a:pt x="4959718" y="2590"/>
                  </a:lnTo>
                  <a:lnTo>
                    <a:pt x="4964785" y="4127"/>
                  </a:lnTo>
                  <a:lnTo>
                    <a:pt x="4969687" y="6159"/>
                  </a:lnTo>
                  <a:lnTo>
                    <a:pt x="4974602" y="8191"/>
                  </a:lnTo>
                  <a:lnTo>
                    <a:pt x="4995964" y="23710"/>
                  </a:lnTo>
                  <a:lnTo>
                    <a:pt x="4999723" y="27470"/>
                  </a:lnTo>
                  <a:lnTo>
                    <a:pt x="5003076" y="31559"/>
                  </a:lnTo>
                  <a:lnTo>
                    <a:pt x="5006022" y="35979"/>
                  </a:lnTo>
                  <a:lnTo>
                    <a:pt x="5008981" y="40398"/>
                  </a:lnTo>
                  <a:lnTo>
                    <a:pt x="5011470" y="45072"/>
                  </a:lnTo>
                  <a:lnTo>
                    <a:pt x="5013502" y="49974"/>
                  </a:lnTo>
                  <a:lnTo>
                    <a:pt x="5015547" y="54889"/>
                  </a:lnTo>
                  <a:lnTo>
                    <a:pt x="5017084" y="59956"/>
                  </a:lnTo>
                  <a:lnTo>
                    <a:pt x="5018112" y="65163"/>
                  </a:lnTo>
                  <a:lnTo>
                    <a:pt x="5019154" y="70383"/>
                  </a:lnTo>
                  <a:lnTo>
                    <a:pt x="5019675" y="75641"/>
                  </a:lnTo>
                  <a:lnTo>
                    <a:pt x="5019675" y="80962"/>
                  </a:lnTo>
                  <a:lnTo>
                    <a:pt x="5019675" y="86271"/>
                  </a:lnTo>
                  <a:lnTo>
                    <a:pt x="5019154" y="91541"/>
                  </a:lnTo>
                  <a:lnTo>
                    <a:pt x="5018112" y="96748"/>
                  </a:lnTo>
                  <a:lnTo>
                    <a:pt x="5017084" y="101968"/>
                  </a:lnTo>
                  <a:lnTo>
                    <a:pt x="5015547" y="107035"/>
                  </a:lnTo>
                  <a:lnTo>
                    <a:pt x="5013502" y="111950"/>
                  </a:lnTo>
                  <a:lnTo>
                    <a:pt x="5011470" y="116852"/>
                  </a:lnTo>
                  <a:lnTo>
                    <a:pt x="5008981" y="121526"/>
                  </a:lnTo>
                  <a:lnTo>
                    <a:pt x="5006022" y="125945"/>
                  </a:lnTo>
                  <a:lnTo>
                    <a:pt x="5003076" y="130365"/>
                  </a:lnTo>
                  <a:lnTo>
                    <a:pt x="4999723" y="134454"/>
                  </a:lnTo>
                  <a:lnTo>
                    <a:pt x="4995964" y="138214"/>
                  </a:lnTo>
                  <a:lnTo>
                    <a:pt x="4992204" y="141973"/>
                  </a:lnTo>
                  <a:lnTo>
                    <a:pt x="4988115" y="145326"/>
                  </a:lnTo>
                  <a:lnTo>
                    <a:pt x="4983695" y="148272"/>
                  </a:lnTo>
                  <a:lnTo>
                    <a:pt x="4979276" y="151231"/>
                  </a:lnTo>
                  <a:lnTo>
                    <a:pt x="4954511" y="160362"/>
                  </a:lnTo>
                  <a:lnTo>
                    <a:pt x="4949291" y="161404"/>
                  </a:lnTo>
                  <a:lnTo>
                    <a:pt x="4944021" y="161925"/>
                  </a:lnTo>
                  <a:lnTo>
                    <a:pt x="4938712" y="161925"/>
                  </a:lnTo>
                  <a:lnTo>
                    <a:pt x="80962" y="161925"/>
                  </a:lnTo>
                  <a:lnTo>
                    <a:pt x="75641" y="161925"/>
                  </a:lnTo>
                  <a:lnTo>
                    <a:pt x="70383" y="161404"/>
                  </a:lnTo>
                  <a:lnTo>
                    <a:pt x="65163" y="160362"/>
                  </a:lnTo>
                  <a:lnTo>
                    <a:pt x="59956" y="159334"/>
                  </a:lnTo>
                  <a:lnTo>
                    <a:pt x="35979" y="148272"/>
                  </a:lnTo>
                  <a:lnTo>
                    <a:pt x="31559" y="145326"/>
                  </a:lnTo>
                  <a:lnTo>
                    <a:pt x="27470" y="141973"/>
                  </a:lnTo>
                  <a:lnTo>
                    <a:pt x="23710" y="138214"/>
                  </a:lnTo>
                  <a:lnTo>
                    <a:pt x="19951" y="134454"/>
                  </a:lnTo>
                  <a:lnTo>
                    <a:pt x="1549" y="96748"/>
                  </a:lnTo>
                  <a:lnTo>
                    <a:pt x="0" y="86271"/>
                  </a:lnTo>
                  <a:lnTo>
                    <a:pt x="0" y="80962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6000750" y="2638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00750" y="2971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59475" y="2014934"/>
            <a:ext cx="2546985" cy="108966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10" dirty="0">
                <a:solidFill>
                  <a:srgbClr val="4B4A4A"/>
                </a:solidFill>
                <a:latin typeface="Arial Black"/>
                <a:cs typeface="Arial Black"/>
              </a:rPr>
              <a:t>Excel</a:t>
            </a:r>
            <a:endParaRPr sz="1650">
              <a:latin typeface="Arial Black"/>
              <a:cs typeface="Arial Black"/>
            </a:endParaRPr>
          </a:p>
          <a:p>
            <a:pPr marL="286385" marR="5080">
              <a:lnSpc>
                <a:spcPts val="2630"/>
              </a:lnSpc>
              <a:spcBef>
                <a:spcPts val="30"/>
              </a:spcBef>
            </a:pP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Validation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checks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Pivot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analysis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verification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0075" y="4000500"/>
            <a:ext cx="5029200" cy="171450"/>
            <a:chOff x="600075" y="4000500"/>
            <a:chExt cx="5029200" cy="171450"/>
          </a:xfrm>
        </p:grpSpPr>
        <p:sp>
          <p:nvSpPr>
            <p:cNvPr id="16" name="object 16"/>
            <p:cNvSpPr/>
            <p:nvPr/>
          </p:nvSpPr>
          <p:spPr>
            <a:xfrm>
              <a:off x="604837" y="4005262"/>
              <a:ext cx="5019675" cy="161925"/>
            </a:xfrm>
            <a:custGeom>
              <a:avLst/>
              <a:gdLst/>
              <a:ahLst/>
              <a:cxnLst/>
              <a:rect l="l" t="t" r="r" b="b"/>
              <a:pathLst>
                <a:path w="5019675" h="161925">
                  <a:moveTo>
                    <a:pt x="4944021" y="0"/>
                  </a:moveTo>
                  <a:lnTo>
                    <a:pt x="75645" y="0"/>
                  </a:lnTo>
                  <a:lnTo>
                    <a:pt x="70380" y="520"/>
                  </a:lnTo>
                  <a:lnTo>
                    <a:pt x="31562" y="16598"/>
                  </a:lnTo>
                  <a:lnTo>
                    <a:pt x="4127" y="54889"/>
                  </a:lnTo>
                  <a:lnTo>
                    <a:pt x="0" y="75641"/>
                  </a:lnTo>
                  <a:lnTo>
                    <a:pt x="0" y="80962"/>
                  </a:lnTo>
                  <a:lnTo>
                    <a:pt x="0" y="86271"/>
                  </a:lnTo>
                  <a:lnTo>
                    <a:pt x="16598" y="130365"/>
                  </a:lnTo>
                  <a:lnTo>
                    <a:pt x="54893" y="157797"/>
                  </a:lnTo>
                  <a:lnTo>
                    <a:pt x="75645" y="161925"/>
                  </a:lnTo>
                  <a:lnTo>
                    <a:pt x="4944021" y="161925"/>
                  </a:lnTo>
                  <a:lnTo>
                    <a:pt x="4988115" y="145326"/>
                  </a:lnTo>
                  <a:lnTo>
                    <a:pt x="5015547" y="107035"/>
                  </a:lnTo>
                  <a:lnTo>
                    <a:pt x="5019675" y="86271"/>
                  </a:lnTo>
                  <a:lnTo>
                    <a:pt x="5019675" y="75641"/>
                  </a:lnTo>
                  <a:lnTo>
                    <a:pt x="5003076" y="31559"/>
                  </a:lnTo>
                  <a:lnTo>
                    <a:pt x="4964785" y="4127"/>
                  </a:lnTo>
                  <a:lnTo>
                    <a:pt x="4949291" y="520"/>
                  </a:lnTo>
                  <a:lnTo>
                    <a:pt x="4944021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4837" y="4005262"/>
              <a:ext cx="5019675" cy="161925"/>
            </a:xfrm>
            <a:custGeom>
              <a:avLst/>
              <a:gdLst/>
              <a:ahLst/>
              <a:cxnLst/>
              <a:rect l="l" t="t" r="r" b="b"/>
              <a:pathLst>
                <a:path w="5019675" h="161925">
                  <a:moveTo>
                    <a:pt x="0" y="80962"/>
                  </a:moveTo>
                  <a:lnTo>
                    <a:pt x="0" y="75641"/>
                  </a:lnTo>
                  <a:lnTo>
                    <a:pt x="520" y="70383"/>
                  </a:lnTo>
                  <a:lnTo>
                    <a:pt x="16598" y="31559"/>
                  </a:lnTo>
                  <a:lnTo>
                    <a:pt x="23713" y="23710"/>
                  </a:lnTo>
                  <a:lnTo>
                    <a:pt x="27473" y="19951"/>
                  </a:lnTo>
                  <a:lnTo>
                    <a:pt x="65167" y="1549"/>
                  </a:lnTo>
                  <a:lnTo>
                    <a:pt x="75645" y="0"/>
                  </a:lnTo>
                  <a:lnTo>
                    <a:pt x="80962" y="0"/>
                  </a:lnTo>
                  <a:lnTo>
                    <a:pt x="4938712" y="0"/>
                  </a:lnTo>
                  <a:lnTo>
                    <a:pt x="4944021" y="0"/>
                  </a:lnTo>
                  <a:lnTo>
                    <a:pt x="4949291" y="520"/>
                  </a:lnTo>
                  <a:lnTo>
                    <a:pt x="4954511" y="1549"/>
                  </a:lnTo>
                  <a:lnTo>
                    <a:pt x="4959718" y="2590"/>
                  </a:lnTo>
                  <a:lnTo>
                    <a:pt x="4964785" y="4127"/>
                  </a:lnTo>
                  <a:lnTo>
                    <a:pt x="4969687" y="6159"/>
                  </a:lnTo>
                  <a:lnTo>
                    <a:pt x="4974602" y="8191"/>
                  </a:lnTo>
                  <a:lnTo>
                    <a:pt x="4995964" y="23710"/>
                  </a:lnTo>
                  <a:lnTo>
                    <a:pt x="4999723" y="27470"/>
                  </a:lnTo>
                  <a:lnTo>
                    <a:pt x="5003076" y="31559"/>
                  </a:lnTo>
                  <a:lnTo>
                    <a:pt x="5006022" y="35979"/>
                  </a:lnTo>
                  <a:lnTo>
                    <a:pt x="5008981" y="40398"/>
                  </a:lnTo>
                  <a:lnTo>
                    <a:pt x="5018112" y="65163"/>
                  </a:lnTo>
                  <a:lnTo>
                    <a:pt x="5019154" y="70383"/>
                  </a:lnTo>
                  <a:lnTo>
                    <a:pt x="5019675" y="75641"/>
                  </a:lnTo>
                  <a:lnTo>
                    <a:pt x="5019675" y="80962"/>
                  </a:lnTo>
                  <a:lnTo>
                    <a:pt x="5019675" y="86271"/>
                  </a:lnTo>
                  <a:lnTo>
                    <a:pt x="5019154" y="91541"/>
                  </a:lnTo>
                  <a:lnTo>
                    <a:pt x="5018112" y="96761"/>
                  </a:lnTo>
                  <a:lnTo>
                    <a:pt x="5017084" y="101968"/>
                  </a:lnTo>
                  <a:lnTo>
                    <a:pt x="5006022" y="125945"/>
                  </a:lnTo>
                  <a:lnTo>
                    <a:pt x="5003076" y="130365"/>
                  </a:lnTo>
                  <a:lnTo>
                    <a:pt x="4999723" y="134454"/>
                  </a:lnTo>
                  <a:lnTo>
                    <a:pt x="4995964" y="138214"/>
                  </a:lnTo>
                  <a:lnTo>
                    <a:pt x="4992204" y="141973"/>
                  </a:lnTo>
                  <a:lnTo>
                    <a:pt x="4988115" y="145326"/>
                  </a:lnTo>
                  <a:lnTo>
                    <a:pt x="4983695" y="148272"/>
                  </a:lnTo>
                  <a:lnTo>
                    <a:pt x="4979276" y="151231"/>
                  </a:lnTo>
                  <a:lnTo>
                    <a:pt x="4954511" y="160362"/>
                  </a:lnTo>
                  <a:lnTo>
                    <a:pt x="4949291" y="161404"/>
                  </a:lnTo>
                  <a:lnTo>
                    <a:pt x="4944021" y="161925"/>
                  </a:lnTo>
                  <a:lnTo>
                    <a:pt x="4938712" y="161925"/>
                  </a:lnTo>
                  <a:lnTo>
                    <a:pt x="80962" y="161925"/>
                  </a:lnTo>
                  <a:lnTo>
                    <a:pt x="75645" y="161925"/>
                  </a:lnTo>
                  <a:lnTo>
                    <a:pt x="70380" y="161404"/>
                  </a:lnTo>
                  <a:lnTo>
                    <a:pt x="65167" y="160362"/>
                  </a:lnTo>
                  <a:lnTo>
                    <a:pt x="59952" y="159334"/>
                  </a:lnTo>
                  <a:lnTo>
                    <a:pt x="35981" y="148272"/>
                  </a:lnTo>
                  <a:lnTo>
                    <a:pt x="31562" y="145326"/>
                  </a:lnTo>
                  <a:lnTo>
                    <a:pt x="6162" y="111950"/>
                  </a:lnTo>
                  <a:lnTo>
                    <a:pt x="0" y="86271"/>
                  </a:lnTo>
                  <a:lnTo>
                    <a:pt x="0" y="80962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800100" y="48196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0100" y="5153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85"/>
                </a:lnTo>
                <a:lnTo>
                  <a:pt x="0" y="32360"/>
                </a:lnTo>
                <a:lnTo>
                  <a:pt x="24785" y="57151"/>
                </a:lnTo>
                <a:lnTo>
                  <a:pt x="32364" y="57151"/>
                </a:lnTo>
                <a:lnTo>
                  <a:pt x="57150" y="32360"/>
                </a:lnTo>
                <a:lnTo>
                  <a:pt x="57150" y="28576"/>
                </a:lnTo>
                <a:lnTo>
                  <a:pt x="57150" y="24785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58825" y="4196159"/>
            <a:ext cx="3884295" cy="108966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75" dirty="0">
                <a:solidFill>
                  <a:srgbClr val="4B4A4A"/>
                </a:solidFill>
                <a:latin typeface="Arial Black"/>
                <a:cs typeface="Arial Black"/>
              </a:rPr>
              <a:t>Power</a:t>
            </a:r>
            <a:r>
              <a:rPr sz="1650" spc="-114" dirty="0">
                <a:solidFill>
                  <a:srgbClr val="4B4A4A"/>
                </a:solidFill>
                <a:latin typeface="Arial Black"/>
                <a:cs typeface="Arial Black"/>
              </a:rPr>
              <a:t> </a:t>
            </a:r>
            <a:r>
              <a:rPr sz="1650" spc="-35" dirty="0">
                <a:solidFill>
                  <a:srgbClr val="4B4A4A"/>
                </a:solidFill>
                <a:latin typeface="Arial Black"/>
                <a:cs typeface="Arial Black"/>
              </a:rPr>
              <a:t>BI</a:t>
            </a:r>
            <a:r>
              <a:rPr sz="1650" spc="-114" dirty="0">
                <a:solidFill>
                  <a:srgbClr val="4B4A4A"/>
                </a:solidFill>
                <a:latin typeface="Arial Black"/>
                <a:cs typeface="Arial Black"/>
              </a:rPr>
              <a:t> </a:t>
            </a:r>
            <a:r>
              <a:rPr sz="1650" spc="-125" dirty="0">
                <a:solidFill>
                  <a:srgbClr val="4B4A4A"/>
                </a:solidFill>
                <a:latin typeface="Arial Black"/>
                <a:cs typeface="Arial Black"/>
              </a:rPr>
              <a:t>&amp;</a:t>
            </a:r>
            <a:r>
              <a:rPr sz="1650" spc="-110" dirty="0">
                <a:solidFill>
                  <a:srgbClr val="4B4A4A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4B4A4A"/>
                </a:solidFill>
                <a:latin typeface="Arial Black"/>
                <a:cs typeface="Arial Black"/>
              </a:rPr>
              <a:t>Tableau</a:t>
            </a:r>
            <a:endParaRPr sz="1650">
              <a:latin typeface="Arial Black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945"/>
              </a:spcBef>
            </a:pP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Visualization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interactive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dashboards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Used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filters,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slicers,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charts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storytelling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00725" y="3743325"/>
            <a:ext cx="5029200" cy="171450"/>
            <a:chOff x="5800725" y="3743325"/>
            <a:chExt cx="5029200" cy="171450"/>
          </a:xfrm>
        </p:grpSpPr>
        <p:sp>
          <p:nvSpPr>
            <p:cNvPr id="22" name="object 22"/>
            <p:cNvSpPr/>
            <p:nvPr/>
          </p:nvSpPr>
          <p:spPr>
            <a:xfrm>
              <a:off x="5805487" y="3748087"/>
              <a:ext cx="5019675" cy="161925"/>
            </a:xfrm>
            <a:custGeom>
              <a:avLst/>
              <a:gdLst/>
              <a:ahLst/>
              <a:cxnLst/>
              <a:rect l="l" t="t" r="r" b="b"/>
              <a:pathLst>
                <a:path w="5019675" h="161925">
                  <a:moveTo>
                    <a:pt x="4944021" y="0"/>
                  </a:moveTo>
                  <a:lnTo>
                    <a:pt x="75641" y="0"/>
                  </a:lnTo>
                  <a:lnTo>
                    <a:pt x="70383" y="520"/>
                  </a:lnTo>
                  <a:lnTo>
                    <a:pt x="31559" y="16598"/>
                  </a:lnTo>
                  <a:lnTo>
                    <a:pt x="4127" y="54889"/>
                  </a:lnTo>
                  <a:lnTo>
                    <a:pt x="0" y="75641"/>
                  </a:lnTo>
                  <a:lnTo>
                    <a:pt x="0" y="80962"/>
                  </a:lnTo>
                  <a:lnTo>
                    <a:pt x="0" y="86271"/>
                  </a:lnTo>
                  <a:lnTo>
                    <a:pt x="16598" y="130365"/>
                  </a:lnTo>
                  <a:lnTo>
                    <a:pt x="54889" y="157797"/>
                  </a:lnTo>
                  <a:lnTo>
                    <a:pt x="75641" y="161925"/>
                  </a:lnTo>
                  <a:lnTo>
                    <a:pt x="4944021" y="161925"/>
                  </a:lnTo>
                  <a:lnTo>
                    <a:pt x="4988115" y="145326"/>
                  </a:lnTo>
                  <a:lnTo>
                    <a:pt x="5015547" y="107035"/>
                  </a:lnTo>
                  <a:lnTo>
                    <a:pt x="5019675" y="86271"/>
                  </a:lnTo>
                  <a:lnTo>
                    <a:pt x="5019675" y="75641"/>
                  </a:lnTo>
                  <a:lnTo>
                    <a:pt x="5003076" y="31559"/>
                  </a:lnTo>
                  <a:lnTo>
                    <a:pt x="4964785" y="4127"/>
                  </a:lnTo>
                  <a:lnTo>
                    <a:pt x="4949291" y="520"/>
                  </a:lnTo>
                  <a:lnTo>
                    <a:pt x="4944021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05487" y="3748087"/>
              <a:ext cx="5019675" cy="161925"/>
            </a:xfrm>
            <a:custGeom>
              <a:avLst/>
              <a:gdLst/>
              <a:ahLst/>
              <a:cxnLst/>
              <a:rect l="l" t="t" r="r" b="b"/>
              <a:pathLst>
                <a:path w="5019675" h="161925">
                  <a:moveTo>
                    <a:pt x="0" y="80962"/>
                  </a:moveTo>
                  <a:lnTo>
                    <a:pt x="0" y="75641"/>
                  </a:lnTo>
                  <a:lnTo>
                    <a:pt x="520" y="70383"/>
                  </a:lnTo>
                  <a:lnTo>
                    <a:pt x="16598" y="31559"/>
                  </a:lnTo>
                  <a:lnTo>
                    <a:pt x="23710" y="23710"/>
                  </a:lnTo>
                  <a:lnTo>
                    <a:pt x="27470" y="19951"/>
                  </a:lnTo>
                  <a:lnTo>
                    <a:pt x="49974" y="6159"/>
                  </a:lnTo>
                  <a:lnTo>
                    <a:pt x="54889" y="4127"/>
                  </a:lnTo>
                  <a:lnTo>
                    <a:pt x="59956" y="2590"/>
                  </a:lnTo>
                  <a:lnTo>
                    <a:pt x="65163" y="1549"/>
                  </a:lnTo>
                  <a:lnTo>
                    <a:pt x="70383" y="520"/>
                  </a:lnTo>
                  <a:lnTo>
                    <a:pt x="75641" y="0"/>
                  </a:lnTo>
                  <a:lnTo>
                    <a:pt x="80962" y="0"/>
                  </a:lnTo>
                  <a:lnTo>
                    <a:pt x="4938712" y="0"/>
                  </a:lnTo>
                  <a:lnTo>
                    <a:pt x="4944021" y="0"/>
                  </a:lnTo>
                  <a:lnTo>
                    <a:pt x="4949291" y="520"/>
                  </a:lnTo>
                  <a:lnTo>
                    <a:pt x="4954511" y="1549"/>
                  </a:lnTo>
                  <a:lnTo>
                    <a:pt x="4959718" y="2590"/>
                  </a:lnTo>
                  <a:lnTo>
                    <a:pt x="4964785" y="4127"/>
                  </a:lnTo>
                  <a:lnTo>
                    <a:pt x="4969687" y="6159"/>
                  </a:lnTo>
                  <a:lnTo>
                    <a:pt x="4974602" y="8191"/>
                  </a:lnTo>
                  <a:lnTo>
                    <a:pt x="4995964" y="23710"/>
                  </a:lnTo>
                  <a:lnTo>
                    <a:pt x="4999723" y="27470"/>
                  </a:lnTo>
                  <a:lnTo>
                    <a:pt x="5003076" y="31559"/>
                  </a:lnTo>
                  <a:lnTo>
                    <a:pt x="5006022" y="35979"/>
                  </a:lnTo>
                  <a:lnTo>
                    <a:pt x="5008981" y="40398"/>
                  </a:lnTo>
                  <a:lnTo>
                    <a:pt x="5011470" y="45072"/>
                  </a:lnTo>
                  <a:lnTo>
                    <a:pt x="5013502" y="49974"/>
                  </a:lnTo>
                  <a:lnTo>
                    <a:pt x="5015547" y="54889"/>
                  </a:lnTo>
                  <a:lnTo>
                    <a:pt x="5017084" y="59956"/>
                  </a:lnTo>
                  <a:lnTo>
                    <a:pt x="5018112" y="65163"/>
                  </a:lnTo>
                  <a:lnTo>
                    <a:pt x="5019154" y="70383"/>
                  </a:lnTo>
                  <a:lnTo>
                    <a:pt x="5019675" y="75641"/>
                  </a:lnTo>
                  <a:lnTo>
                    <a:pt x="5019675" y="80962"/>
                  </a:lnTo>
                  <a:lnTo>
                    <a:pt x="5019675" y="86271"/>
                  </a:lnTo>
                  <a:lnTo>
                    <a:pt x="5019154" y="91541"/>
                  </a:lnTo>
                  <a:lnTo>
                    <a:pt x="5018112" y="96748"/>
                  </a:lnTo>
                  <a:lnTo>
                    <a:pt x="5017084" y="101968"/>
                  </a:lnTo>
                  <a:lnTo>
                    <a:pt x="5015547" y="107035"/>
                  </a:lnTo>
                  <a:lnTo>
                    <a:pt x="5013502" y="111950"/>
                  </a:lnTo>
                  <a:lnTo>
                    <a:pt x="5011470" y="116852"/>
                  </a:lnTo>
                  <a:lnTo>
                    <a:pt x="5008981" y="121513"/>
                  </a:lnTo>
                  <a:lnTo>
                    <a:pt x="5006022" y="125933"/>
                  </a:lnTo>
                  <a:lnTo>
                    <a:pt x="5003076" y="130365"/>
                  </a:lnTo>
                  <a:lnTo>
                    <a:pt x="4999723" y="134454"/>
                  </a:lnTo>
                  <a:lnTo>
                    <a:pt x="4995964" y="138214"/>
                  </a:lnTo>
                  <a:lnTo>
                    <a:pt x="4992204" y="141973"/>
                  </a:lnTo>
                  <a:lnTo>
                    <a:pt x="4988115" y="145326"/>
                  </a:lnTo>
                  <a:lnTo>
                    <a:pt x="4983695" y="148272"/>
                  </a:lnTo>
                  <a:lnTo>
                    <a:pt x="4979276" y="151231"/>
                  </a:lnTo>
                  <a:lnTo>
                    <a:pt x="4954511" y="160362"/>
                  </a:lnTo>
                  <a:lnTo>
                    <a:pt x="4949291" y="161404"/>
                  </a:lnTo>
                  <a:lnTo>
                    <a:pt x="4944021" y="161925"/>
                  </a:lnTo>
                  <a:lnTo>
                    <a:pt x="4938712" y="161925"/>
                  </a:lnTo>
                  <a:lnTo>
                    <a:pt x="80962" y="161925"/>
                  </a:lnTo>
                  <a:lnTo>
                    <a:pt x="75641" y="161925"/>
                  </a:lnTo>
                  <a:lnTo>
                    <a:pt x="70383" y="161404"/>
                  </a:lnTo>
                  <a:lnTo>
                    <a:pt x="65163" y="160362"/>
                  </a:lnTo>
                  <a:lnTo>
                    <a:pt x="59956" y="159334"/>
                  </a:lnTo>
                  <a:lnTo>
                    <a:pt x="35979" y="148272"/>
                  </a:lnTo>
                  <a:lnTo>
                    <a:pt x="31559" y="145326"/>
                  </a:lnTo>
                  <a:lnTo>
                    <a:pt x="27470" y="141973"/>
                  </a:lnTo>
                  <a:lnTo>
                    <a:pt x="23710" y="138214"/>
                  </a:lnTo>
                  <a:lnTo>
                    <a:pt x="19951" y="134454"/>
                  </a:lnTo>
                  <a:lnTo>
                    <a:pt x="1549" y="96748"/>
                  </a:lnTo>
                  <a:lnTo>
                    <a:pt x="0" y="86271"/>
                  </a:lnTo>
                  <a:lnTo>
                    <a:pt x="0" y="80962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6000750" y="4562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00750" y="48958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959475" y="3938984"/>
            <a:ext cx="4265295" cy="108966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30" dirty="0">
                <a:solidFill>
                  <a:srgbClr val="4B4A4A"/>
                </a:solidFill>
                <a:latin typeface="Arial Black"/>
                <a:cs typeface="Arial Black"/>
              </a:rPr>
              <a:t>Insight</a:t>
            </a:r>
            <a:r>
              <a:rPr sz="1650" spc="-100" dirty="0">
                <a:solidFill>
                  <a:srgbClr val="4B4A4A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4B4A4A"/>
                </a:solidFill>
                <a:latin typeface="Arial Black"/>
                <a:cs typeface="Arial Black"/>
              </a:rPr>
              <a:t>Čeneration</a:t>
            </a:r>
            <a:endParaRPr sz="1650">
              <a:latin typeface="Arial Black"/>
              <a:cs typeface="Arial Black"/>
            </a:endParaRPr>
          </a:p>
          <a:p>
            <a:pPr marL="286385">
              <a:lnSpc>
                <a:spcPct val="100000"/>
              </a:lnSpc>
              <a:spcBef>
                <a:spcPts val="945"/>
              </a:spcBef>
            </a:pP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Compared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debit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4B4A4A"/>
                </a:solidFill>
                <a:latin typeface="Verdana"/>
                <a:cs typeface="Verdana"/>
              </a:rPr>
              <a:t>vs.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credit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patterns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Identified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key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customers,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banks,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seasonal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dips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8439150"/>
          </a:xfrm>
          <a:custGeom>
            <a:avLst/>
            <a:gdLst/>
            <a:ahLst/>
            <a:cxnLst/>
            <a:rect l="l" t="t" r="r" b="b"/>
            <a:pathLst>
              <a:path w="11430000" h="8439150">
                <a:moveTo>
                  <a:pt x="11430000" y="0"/>
                </a:moveTo>
                <a:lnTo>
                  <a:pt x="0" y="0"/>
                </a:lnTo>
                <a:lnTo>
                  <a:pt x="0" y="8439150"/>
                </a:lnTo>
                <a:lnTo>
                  <a:pt x="11430000" y="84391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7"/>
            <a:ext cx="11430000" cy="21426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5" y="2625724"/>
            <a:ext cx="775462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Project</a:t>
            </a:r>
            <a:r>
              <a:rPr spc="-235" dirty="0"/>
              <a:t> </a:t>
            </a:r>
            <a:r>
              <a:rPr spc="-160" dirty="0"/>
              <a:t>Challenges</a:t>
            </a:r>
            <a:r>
              <a:rPr spc="-229" dirty="0"/>
              <a:t> </a:t>
            </a:r>
            <a:r>
              <a:rPr spc="-270" dirty="0"/>
              <a:t>&amp;</a:t>
            </a:r>
            <a:r>
              <a:rPr spc="-225" dirty="0"/>
              <a:t> </a:t>
            </a:r>
            <a:r>
              <a:rPr spc="-254" dirty="0"/>
              <a:t>Key</a:t>
            </a:r>
            <a:r>
              <a:rPr spc="-229" dirty="0"/>
              <a:t> </a:t>
            </a:r>
            <a:r>
              <a:rPr spc="-65" dirty="0"/>
              <a:t>Learnings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0075" y="3409949"/>
            <a:ext cx="10229850" cy="2028825"/>
            <a:chOff x="600075" y="3409949"/>
            <a:chExt cx="10229850" cy="2028825"/>
          </a:xfrm>
        </p:grpSpPr>
        <p:sp>
          <p:nvSpPr>
            <p:cNvPr id="6" name="object 6"/>
            <p:cNvSpPr/>
            <p:nvPr/>
          </p:nvSpPr>
          <p:spPr>
            <a:xfrm>
              <a:off x="609600" y="3419474"/>
              <a:ext cx="10210800" cy="2009775"/>
            </a:xfrm>
            <a:custGeom>
              <a:avLst/>
              <a:gdLst/>
              <a:ahLst/>
              <a:cxnLst/>
              <a:rect l="l" t="t" r="r" b="b"/>
              <a:pathLst>
                <a:path w="10210800" h="2009775">
                  <a:moveTo>
                    <a:pt x="10099560" y="0"/>
                  </a:moveTo>
                  <a:lnTo>
                    <a:pt x="111244" y="0"/>
                  </a:lnTo>
                  <a:lnTo>
                    <a:pt x="103499" y="762"/>
                  </a:lnTo>
                  <a:lnTo>
                    <a:pt x="66278" y="12052"/>
                  </a:lnTo>
                  <a:lnTo>
                    <a:pt x="29343" y="40398"/>
                  </a:lnTo>
                  <a:lnTo>
                    <a:pt x="6071" y="80721"/>
                  </a:lnTo>
                  <a:lnTo>
                    <a:pt x="0" y="111252"/>
                  </a:lnTo>
                  <a:lnTo>
                    <a:pt x="0" y="1890712"/>
                  </a:lnTo>
                  <a:lnTo>
                    <a:pt x="0" y="1898523"/>
                  </a:lnTo>
                  <a:lnTo>
                    <a:pt x="12054" y="1943493"/>
                  </a:lnTo>
                  <a:lnTo>
                    <a:pt x="40402" y="1980425"/>
                  </a:lnTo>
                  <a:lnTo>
                    <a:pt x="80719" y="2003704"/>
                  </a:lnTo>
                  <a:lnTo>
                    <a:pt x="111244" y="2009775"/>
                  </a:lnTo>
                  <a:lnTo>
                    <a:pt x="10099560" y="2009775"/>
                  </a:lnTo>
                  <a:lnTo>
                    <a:pt x="10144518" y="1997722"/>
                  </a:lnTo>
                  <a:lnTo>
                    <a:pt x="10181450" y="1969376"/>
                  </a:lnTo>
                  <a:lnTo>
                    <a:pt x="10204729" y="1929053"/>
                  </a:lnTo>
                  <a:lnTo>
                    <a:pt x="10210800" y="1898523"/>
                  </a:lnTo>
                  <a:lnTo>
                    <a:pt x="10210800" y="111252"/>
                  </a:lnTo>
                  <a:lnTo>
                    <a:pt x="10198747" y="66281"/>
                  </a:lnTo>
                  <a:lnTo>
                    <a:pt x="10170401" y="29349"/>
                  </a:lnTo>
                  <a:lnTo>
                    <a:pt x="10130078" y="6070"/>
                  </a:lnTo>
                  <a:lnTo>
                    <a:pt x="10107295" y="762"/>
                  </a:lnTo>
                  <a:lnTo>
                    <a:pt x="1009956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3419474"/>
              <a:ext cx="10210800" cy="2009775"/>
            </a:xfrm>
            <a:custGeom>
              <a:avLst/>
              <a:gdLst/>
              <a:ahLst/>
              <a:cxnLst/>
              <a:rect l="l" t="t" r="r" b="b"/>
              <a:pathLst>
                <a:path w="10210800" h="2009775">
                  <a:moveTo>
                    <a:pt x="0" y="1890712"/>
                  </a:moveTo>
                  <a:lnTo>
                    <a:pt x="0" y="119062"/>
                  </a:lnTo>
                  <a:lnTo>
                    <a:pt x="0" y="111252"/>
                  </a:lnTo>
                  <a:lnTo>
                    <a:pt x="764" y="103505"/>
                  </a:lnTo>
                  <a:lnTo>
                    <a:pt x="12054" y="66281"/>
                  </a:lnTo>
                  <a:lnTo>
                    <a:pt x="20067" y="52920"/>
                  </a:lnTo>
                  <a:lnTo>
                    <a:pt x="24408" y="46418"/>
                  </a:lnTo>
                  <a:lnTo>
                    <a:pt x="52913" y="20066"/>
                  </a:lnTo>
                  <a:lnTo>
                    <a:pt x="88165" y="3810"/>
                  </a:lnTo>
                  <a:lnTo>
                    <a:pt x="95835" y="2286"/>
                  </a:lnTo>
                  <a:lnTo>
                    <a:pt x="103499" y="762"/>
                  </a:lnTo>
                  <a:lnTo>
                    <a:pt x="111244" y="0"/>
                  </a:lnTo>
                  <a:lnTo>
                    <a:pt x="119062" y="0"/>
                  </a:lnTo>
                  <a:lnTo>
                    <a:pt x="10091737" y="0"/>
                  </a:lnTo>
                  <a:lnTo>
                    <a:pt x="10099560" y="0"/>
                  </a:lnTo>
                  <a:lnTo>
                    <a:pt x="10107295" y="762"/>
                  </a:lnTo>
                  <a:lnTo>
                    <a:pt x="10114965" y="2286"/>
                  </a:lnTo>
                  <a:lnTo>
                    <a:pt x="10122636" y="3810"/>
                  </a:lnTo>
                  <a:lnTo>
                    <a:pt x="10157891" y="20066"/>
                  </a:lnTo>
                  <a:lnTo>
                    <a:pt x="10186390" y="46418"/>
                  </a:lnTo>
                  <a:lnTo>
                    <a:pt x="10190734" y="52920"/>
                  </a:lnTo>
                  <a:lnTo>
                    <a:pt x="10195077" y="59410"/>
                  </a:lnTo>
                  <a:lnTo>
                    <a:pt x="10198747" y="66281"/>
                  </a:lnTo>
                  <a:lnTo>
                    <a:pt x="10201732" y="73494"/>
                  </a:lnTo>
                  <a:lnTo>
                    <a:pt x="10204729" y="80721"/>
                  </a:lnTo>
                  <a:lnTo>
                    <a:pt x="10206990" y="88163"/>
                  </a:lnTo>
                  <a:lnTo>
                    <a:pt x="10208514" y="95834"/>
                  </a:lnTo>
                  <a:lnTo>
                    <a:pt x="10210038" y="103505"/>
                  </a:lnTo>
                  <a:lnTo>
                    <a:pt x="10210800" y="111252"/>
                  </a:lnTo>
                  <a:lnTo>
                    <a:pt x="10210800" y="119062"/>
                  </a:lnTo>
                  <a:lnTo>
                    <a:pt x="10210800" y="1890712"/>
                  </a:lnTo>
                  <a:lnTo>
                    <a:pt x="10210800" y="1898523"/>
                  </a:lnTo>
                  <a:lnTo>
                    <a:pt x="10210038" y="1906270"/>
                  </a:lnTo>
                  <a:lnTo>
                    <a:pt x="10208514" y="1913940"/>
                  </a:lnTo>
                  <a:lnTo>
                    <a:pt x="10206990" y="1921611"/>
                  </a:lnTo>
                  <a:lnTo>
                    <a:pt x="10204729" y="1929053"/>
                  </a:lnTo>
                  <a:lnTo>
                    <a:pt x="10201732" y="1936280"/>
                  </a:lnTo>
                  <a:lnTo>
                    <a:pt x="10198747" y="1943493"/>
                  </a:lnTo>
                  <a:lnTo>
                    <a:pt x="10195077" y="1950364"/>
                  </a:lnTo>
                  <a:lnTo>
                    <a:pt x="10190734" y="1956854"/>
                  </a:lnTo>
                  <a:lnTo>
                    <a:pt x="10186390" y="1963356"/>
                  </a:lnTo>
                  <a:lnTo>
                    <a:pt x="10157891" y="1989709"/>
                  </a:lnTo>
                  <a:lnTo>
                    <a:pt x="10137305" y="2000707"/>
                  </a:lnTo>
                  <a:lnTo>
                    <a:pt x="10130078" y="2003704"/>
                  </a:lnTo>
                  <a:lnTo>
                    <a:pt x="10122636" y="2005965"/>
                  </a:lnTo>
                  <a:lnTo>
                    <a:pt x="10114965" y="2007489"/>
                  </a:lnTo>
                  <a:lnTo>
                    <a:pt x="10107295" y="2009013"/>
                  </a:lnTo>
                  <a:lnTo>
                    <a:pt x="10099560" y="2009775"/>
                  </a:lnTo>
                  <a:lnTo>
                    <a:pt x="10091737" y="2009775"/>
                  </a:lnTo>
                  <a:lnTo>
                    <a:pt x="119062" y="2009775"/>
                  </a:lnTo>
                  <a:lnTo>
                    <a:pt x="111244" y="2009775"/>
                  </a:lnTo>
                  <a:lnTo>
                    <a:pt x="103499" y="2009013"/>
                  </a:lnTo>
                  <a:lnTo>
                    <a:pt x="95835" y="2007489"/>
                  </a:lnTo>
                  <a:lnTo>
                    <a:pt x="88165" y="2005965"/>
                  </a:lnTo>
                  <a:lnTo>
                    <a:pt x="80719" y="2003704"/>
                  </a:lnTo>
                  <a:lnTo>
                    <a:pt x="73501" y="2000707"/>
                  </a:lnTo>
                  <a:lnTo>
                    <a:pt x="66278" y="1997722"/>
                  </a:lnTo>
                  <a:lnTo>
                    <a:pt x="34870" y="1974900"/>
                  </a:lnTo>
                  <a:lnTo>
                    <a:pt x="20067" y="1956854"/>
                  </a:lnTo>
                  <a:lnTo>
                    <a:pt x="15721" y="1950364"/>
                  </a:lnTo>
                  <a:lnTo>
                    <a:pt x="2287" y="1913940"/>
                  </a:lnTo>
                  <a:lnTo>
                    <a:pt x="0" y="1898523"/>
                  </a:lnTo>
                  <a:lnTo>
                    <a:pt x="0" y="1890712"/>
                  </a:lnTo>
                  <a:close/>
                </a:path>
              </a:pathLst>
            </a:custGeom>
            <a:ln w="19050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9125" y="3428999"/>
              <a:ext cx="681355" cy="1990725"/>
            </a:xfrm>
            <a:custGeom>
              <a:avLst/>
              <a:gdLst/>
              <a:ahLst/>
              <a:cxnLst/>
              <a:rect l="l" t="t" r="r" b="b"/>
              <a:pathLst>
                <a:path w="681355" h="1990725">
                  <a:moveTo>
                    <a:pt x="681037" y="0"/>
                  </a:moveTo>
                  <a:lnTo>
                    <a:pt x="102344" y="0"/>
                  </a:lnTo>
                  <a:lnTo>
                    <a:pt x="95220" y="698"/>
                  </a:lnTo>
                  <a:lnTo>
                    <a:pt x="54659" y="14465"/>
                  </a:lnTo>
                  <a:lnTo>
                    <a:pt x="22458" y="42697"/>
                  </a:lnTo>
                  <a:lnTo>
                    <a:pt x="3507" y="81114"/>
                  </a:lnTo>
                  <a:lnTo>
                    <a:pt x="0" y="102349"/>
                  </a:lnTo>
                  <a:lnTo>
                    <a:pt x="0" y="1881187"/>
                  </a:lnTo>
                  <a:lnTo>
                    <a:pt x="0" y="1888375"/>
                  </a:lnTo>
                  <a:lnTo>
                    <a:pt x="11092" y="1929752"/>
                  </a:lnTo>
                  <a:lnTo>
                    <a:pt x="37167" y="1963724"/>
                  </a:lnTo>
                  <a:lnTo>
                    <a:pt x="74265" y="1985137"/>
                  </a:lnTo>
                  <a:lnTo>
                    <a:pt x="102344" y="1990725"/>
                  </a:lnTo>
                  <a:lnTo>
                    <a:pt x="681037" y="1990725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95400" y="3428999"/>
              <a:ext cx="9525" cy="1990725"/>
            </a:xfrm>
            <a:custGeom>
              <a:avLst/>
              <a:gdLst/>
              <a:ahLst/>
              <a:cxnLst/>
              <a:rect l="l" t="t" r="r" b="b"/>
              <a:pathLst>
                <a:path w="9525" h="1990725">
                  <a:moveTo>
                    <a:pt x="9525" y="0"/>
                  </a:moveTo>
                  <a:lnTo>
                    <a:pt x="0" y="0"/>
                  </a:lnTo>
                  <a:lnTo>
                    <a:pt x="0" y="1990725"/>
                  </a:lnTo>
                  <a:lnTo>
                    <a:pt x="9525" y="19907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04950" y="4076699"/>
              <a:ext cx="57150" cy="1057275"/>
            </a:xfrm>
            <a:custGeom>
              <a:avLst/>
              <a:gdLst/>
              <a:ahLst/>
              <a:cxnLst/>
              <a:rect l="l" t="t" r="r" b="b"/>
              <a:pathLst>
                <a:path w="57150" h="1057275">
                  <a:moveTo>
                    <a:pt x="57150" y="1024915"/>
                  </a:moveTo>
                  <a:lnTo>
                    <a:pt x="32359" y="1000125"/>
                  </a:lnTo>
                  <a:lnTo>
                    <a:pt x="24790" y="1000125"/>
                  </a:lnTo>
                  <a:lnTo>
                    <a:pt x="0" y="1024915"/>
                  </a:lnTo>
                  <a:lnTo>
                    <a:pt x="0" y="1032484"/>
                  </a:lnTo>
                  <a:lnTo>
                    <a:pt x="24790" y="1057275"/>
                  </a:lnTo>
                  <a:lnTo>
                    <a:pt x="32359" y="1057275"/>
                  </a:lnTo>
                  <a:lnTo>
                    <a:pt x="57150" y="1032484"/>
                  </a:lnTo>
                  <a:lnTo>
                    <a:pt x="57150" y="1028700"/>
                  </a:lnTo>
                  <a:lnTo>
                    <a:pt x="57150" y="1024915"/>
                  </a:lnTo>
                  <a:close/>
                </a:path>
                <a:path w="57150" h="1057275">
                  <a:moveTo>
                    <a:pt x="57150" y="691540"/>
                  </a:moveTo>
                  <a:lnTo>
                    <a:pt x="32359" y="666750"/>
                  </a:lnTo>
                  <a:lnTo>
                    <a:pt x="24790" y="666750"/>
                  </a:lnTo>
                  <a:lnTo>
                    <a:pt x="0" y="691540"/>
                  </a:lnTo>
                  <a:lnTo>
                    <a:pt x="0" y="699109"/>
                  </a:lnTo>
                  <a:lnTo>
                    <a:pt x="24790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1057275">
                  <a:moveTo>
                    <a:pt x="57150" y="358165"/>
                  </a:moveTo>
                  <a:lnTo>
                    <a:pt x="32359" y="333375"/>
                  </a:lnTo>
                  <a:lnTo>
                    <a:pt x="24790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90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057275">
                  <a:moveTo>
                    <a:pt x="57150" y="24790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4B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00075" y="5610224"/>
            <a:ext cx="10229850" cy="2362200"/>
            <a:chOff x="600075" y="5610224"/>
            <a:chExt cx="10229850" cy="2362200"/>
          </a:xfrm>
        </p:grpSpPr>
        <p:sp>
          <p:nvSpPr>
            <p:cNvPr id="12" name="object 12"/>
            <p:cNvSpPr/>
            <p:nvPr/>
          </p:nvSpPr>
          <p:spPr>
            <a:xfrm>
              <a:off x="609600" y="5619749"/>
              <a:ext cx="10210800" cy="2343150"/>
            </a:xfrm>
            <a:custGeom>
              <a:avLst/>
              <a:gdLst/>
              <a:ahLst/>
              <a:cxnLst/>
              <a:rect l="l" t="t" r="r" b="b"/>
              <a:pathLst>
                <a:path w="10210800" h="2343150">
                  <a:moveTo>
                    <a:pt x="10099560" y="0"/>
                  </a:moveTo>
                  <a:lnTo>
                    <a:pt x="111244" y="0"/>
                  </a:lnTo>
                  <a:lnTo>
                    <a:pt x="103499" y="762"/>
                  </a:lnTo>
                  <a:lnTo>
                    <a:pt x="66278" y="12052"/>
                  </a:lnTo>
                  <a:lnTo>
                    <a:pt x="29343" y="40398"/>
                  </a:lnTo>
                  <a:lnTo>
                    <a:pt x="6071" y="80721"/>
                  </a:lnTo>
                  <a:lnTo>
                    <a:pt x="0" y="111252"/>
                  </a:lnTo>
                  <a:lnTo>
                    <a:pt x="0" y="2224084"/>
                  </a:lnTo>
                  <a:lnTo>
                    <a:pt x="0" y="2231903"/>
                  </a:lnTo>
                  <a:lnTo>
                    <a:pt x="12054" y="2276873"/>
                  </a:lnTo>
                  <a:lnTo>
                    <a:pt x="40402" y="2313802"/>
                  </a:lnTo>
                  <a:lnTo>
                    <a:pt x="80719" y="2337074"/>
                  </a:lnTo>
                  <a:lnTo>
                    <a:pt x="111244" y="2343147"/>
                  </a:lnTo>
                  <a:lnTo>
                    <a:pt x="10099560" y="2343147"/>
                  </a:lnTo>
                  <a:lnTo>
                    <a:pt x="10144518" y="2331091"/>
                  </a:lnTo>
                  <a:lnTo>
                    <a:pt x="10181450" y="2302750"/>
                  </a:lnTo>
                  <a:lnTo>
                    <a:pt x="10204729" y="2262427"/>
                  </a:lnTo>
                  <a:lnTo>
                    <a:pt x="10210800" y="2231903"/>
                  </a:lnTo>
                  <a:lnTo>
                    <a:pt x="10210800" y="111252"/>
                  </a:lnTo>
                  <a:lnTo>
                    <a:pt x="10198747" y="66281"/>
                  </a:lnTo>
                  <a:lnTo>
                    <a:pt x="10170401" y="29349"/>
                  </a:lnTo>
                  <a:lnTo>
                    <a:pt x="10130078" y="6070"/>
                  </a:lnTo>
                  <a:lnTo>
                    <a:pt x="10107295" y="762"/>
                  </a:lnTo>
                  <a:lnTo>
                    <a:pt x="1009956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600" y="5619749"/>
              <a:ext cx="10210800" cy="2343150"/>
            </a:xfrm>
            <a:custGeom>
              <a:avLst/>
              <a:gdLst/>
              <a:ahLst/>
              <a:cxnLst/>
              <a:rect l="l" t="t" r="r" b="b"/>
              <a:pathLst>
                <a:path w="10210800" h="2343150">
                  <a:moveTo>
                    <a:pt x="0" y="2224084"/>
                  </a:moveTo>
                  <a:lnTo>
                    <a:pt x="0" y="119062"/>
                  </a:lnTo>
                  <a:lnTo>
                    <a:pt x="0" y="111252"/>
                  </a:lnTo>
                  <a:lnTo>
                    <a:pt x="764" y="103505"/>
                  </a:lnTo>
                  <a:lnTo>
                    <a:pt x="12054" y="66281"/>
                  </a:lnTo>
                  <a:lnTo>
                    <a:pt x="20067" y="52920"/>
                  </a:lnTo>
                  <a:lnTo>
                    <a:pt x="24408" y="46405"/>
                  </a:lnTo>
                  <a:lnTo>
                    <a:pt x="52913" y="20066"/>
                  </a:lnTo>
                  <a:lnTo>
                    <a:pt x="88165" y="3810"/>
                  </a:lnTo>
                  <a:lnTo>
                    <a:pt x="95835" y="2286"/>
                  </a:lnTo>
                  <a:lnTo>
                    <a:pt x="103499" y="762"/>
                  </a:lnTo>
                  <a:lnTo>
                    <a:pt x="111244" y="0"/>
                  </a:lnTo>
                  <a:lnTo>
                    <a:pt x="119062" y="0"/>
                  </a:lnTo>
                  <a:lnTo>
                    <a:pt x="10091737" y="0"/>
                  </a:lnTo>
                  <a:lnTo>
                    <a:pt x="10099560" y="0"/>
                  </a:lnTo>
                  <a:lnTo>
                    <a:pt x="10107295" y="762"/>
                  </a:lnTo>
                  <a:lnTo>
                    <a:pt x="10144518" y="12052"/>
                  </a:lnTo>
                  <a:lnTo>
                    <a:pt x="10175925" y="34874"/>
                  </a:lnTo>
                  <a:lnTo>
                    <a:pt x="10190734" y="52920"/>
                  </a:lnTo>
                  <a:lnTo>
                    <a:pt x="10195077" y="59410"/>
                  </a:lnTo>
                  <a:lnTo>
                    <a:pt x="10198747" y="66281"/>
                  </a:lnTo>
                  <a:lnTo>
                    <a:pt x="10201732" y="73494"/>
                  </a:lnTo>
                  <a:lnTo>
                    <a:pt x="10204729" y="80721"/>
                  </a:lnTo>
                  <a:lnTo>
                    <a:pt x="10206990" y="88163"/>
                  </a:lnTo>
                  <a:lnTo>
                    <a:pt x="10208514" y="95834"/>
                  </a:lnTo>
                  <a:lnTo>
                    <a:pt x="10210038" y="103505"/>
                  </a:lnTo>
                  <a:lnTo>
                    <a:pt x="10210800" y="111252"/>
                  </a:lnTo>
                  <a:lnTo>
                    <a:pt x="10210800" y="119062"/>
                  </a:lnTo>
                  <a:lnTo>
                    <a:pt x="10210800" y="2224084"/>
                  </a:lnTo>
                  <a:lnTo>
                    <a:pt x="10210800" y="2231903"/>
                  </a:lnTo>
                  <a:lnTo>
                    <a:pt x="10210038" y="2239647"/>
                  </a:lnTo>
                  <a:lnTo>
                    <a:pt x="10208514" y="2247312"/>
                  </a:lnTo>
                  <a:lnTo>
                    <a:pt x="10206990" y="2254981"/>
                  </a:lnTo>
                  <a:lnTo>
                    <a:pt x="10204729" y="2262427"/>
                  </a:lnTo>
                  <a:lnTo>
                    <a:pt x="10201732" y="2269651"/>
                  </a:lnTo>
                  <a:lnTo>
                    <a:pt x="10198747" y="2276873"/>
                  </a:lnTo>
                  <a:lnTo>
                    <a:pt x="10175925" y="2308277"/>
                  </a:lnTo>
                  <a:lnTo>
                    <a:pt x="10144518" y="2331091"/>
                  </a:lnTo>
                  <a:lnTo>
                    <a:pt x="10114965" y="2340860"/>
                  </a:lnTo>
                  <a:lnTo>
                    <a:pt x="10107295" y="2342388"/>
                  </a:lnTo>
                  <a:lnTo>
                    <a:pt x="10099560" y="2343147"/>
                  </a:lnTo>
                  <a:lnTo>
                    <a:pt x="10091737" y="2343147"/>
                  </a:lnTo>
                  <a:lnTo>
                    <a:pt x="119062" y="2343147"/>
                  </a:lnTo>
                  <a:lnTo>
                    <a:pt x="111244" y="2343147"/>
                  </a:lnTo>
                  <a:lnTo>
                    <a:pt x="103499" y="2342388"/>
                  </a:lnTo>
                  <a:lnTo>
                    <a:pt x="95835" y="2340860"/>
                  </a:lnTo>
                  <a:lnTo>
                    <a:pt x="88165" y="2339337"/>
                  </a:lnTo>
                  <a:lnTo>
                    <a:pt x="80719" y="2337074"/>
                  </a:lnTo>
                  <a:lnTo>
                    <a:pt x="73501" y="2334083"/>
                  </a:lnTo>
                  <a:lnTo>
                    <a:pt x="66278" y="2331091"/>
                  </a:lnTo>
                  <a:lnTo>
                    <a:pt x="59416" y="2327426"/>
                  </a:lnTo>
                  <a:lnTo>
                    <a:pt x="52913" y="2323080"/>
                  </a:lnTo>
                  <a:lnTo>
                    <a:pt x="46414" y="2318739"/>
                  </a:lnTo>
                  <a:lnTo>
                    <a:pt x="20067" y="2290234"/>
                  </a:lnTo>
                  <a:lnTo>
                    <a:pt x="15721" y="2283734"/>
                  </a:lnTo>
                  <a:lnTo>
                    <a:pt x="12054" y="2276873"/>
                  </a:lnTo>
                  <a:lnTo>
                    <a:pt x="9063" y="2269651"/>
                  </a:lnTo>
                  <a:lnTo>
                    <a:pt x="6071" y="2262427"/>
                  </a:lnTo>
                  <a:lnTo>
                    <a:pt x="3815" y="2254981"/>
                  </a:lnTo>
                  <a:lnTo>
                    <a:pt x="2287" y="2247317"/>
                  </a:lnTo>
                  <a:lnTo>
                    <a:pt x="764" y="2239647"/>
                  </a:lnTo>
                  <a:lnTo>
                    <a:pt x="0" y="2231903"/>
                  </a:lnTo>
                  <a:lnTo>
                    <a:pt x="0" y="2224084"/>
                  </a:lnTo>
                  <a:close/>
                </a:path>
              </a:pathLst>
            </a:custGeom>
            <a:ln w="19050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125" y="5629274"/>
              <a:ext cx="681355" cy="2324100"/>
            </a:xfrm>
            <a:custGeom>
              <a:avLst/>
              <a:gdLst/>
              <a:ahLst/>
              <a:cxnLst/>
              <a:rect l="l" t="t" r="r" b="b"/>
              <a:pathLst>
                <a:path w="681355" h="2324100">
                  <a:moveTo>
                    <a:pt x="681037" y="0"/>
                  </a:moveTo>
                  <a:lnTo>
                    <a:pt x="102344" y="0"/>
                  </a:lnTo>
                  <a:lnTo>
                    <a:pt x="95220" y="698"/>
                  </a:lnTo>
                  <a:lnTo>
                    <a:pt x="54659" y="14465"/>
                  </a:lnTo>
                  <a:lnTo>
                    <a:pt x="22458" y="42697"/>
                  </a:lnTo>
                  <a:lnTo>
                    <a:pt x="3507" y="81114"/>
                  </a:lnTo>
                  <a:lnTo>
                    <a:pt x="0" y="102349"/>
                  </a:lnTo>
                  <a:lnTo>
                    <a:pt x="0" y="2214559"/>
                  </a:lnTo>
                  <a:lnTo>
                    <a:pt x="0" y="2221753"/>
                  </a:lnTo>
                  <a:lnTo>
                    <a:pt x="11092" y="2263122"/>
                  </a:lnTo>
                  <a:lnTo>
                    <a:pt x="37167" y="2297099"/>
                  </a:lnTo>
                  <a:lnTo>
                    <a:pt x="74265" y="2318510"/>
                  </a:lnTo>
                  <a:lnTo>
                    <a:pt x="102344" y="2324097"/>
                  </a:lnTo>
                  <a:lnTo>
                    <a:pt x="681037" y="2324097"/>
                  </a:lnTo>
                  <a:lnTo>
                    <a:pt x="681037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5400" y="5629272"/>
              <a:ext cx="9525" cy="2324100"/>
            </a:xfrm>
            <a:custGeom>
              <a:avLst/>
              <a:gdLst/>
              <a:ahLst/>
              <a:cxnLst/>
              <a:rect l="l" t="t" r="r" b="b"/>
              <a:pathLst>
                <a:path w="9525" h="2324100">
                  <a:moveTo>
                    <a:pt x="9525" y="0"/>
                  </a:moveTo>
                  <a:lnTo>
                    <a:pt x="0" y="0"/>
                  </a:lnTo>
                  <a:lnTo>
                    <a:pt x="0" y="2324100"/>
                  </a:lnTo>
                  <a:lnTo>
                    <a:pt x="9525" y="23241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04950" y="6276974"/>
              <a:ext cx="57150" cy="1390650"/>
            </a:xfrm>
            <a:custGeom>
              <a:avLst/>
              <a:gdLst/>
              <a:ahLst/>
              <a:cxnLst/>
              <a:rect l="l" t="t" r="r" b="b"/>
              <a:pathLst>
                <a:path w="57150" h="1390650">
                  <a:moveTo>
                    <a:pt x="57150" y="1358290"/>
                  </a:moveTo>
                  <a:lnTo>
                    <a:pt x="32359" y="1333500"/>
                  </a:lnTo>
                  <a:lnTo>
                    <a:pt x="24790" y="1333500"/>
                  </a:lnTo>
                  <a:lnTo>
                    <a:pt x="0" y="1358290"/>
                  </a:lnTo>
                  <a:lnTo>
                    <a:pt x="0" y="1365872"/>
                  </a:lnTo>
                  <a:lnTo>
                    <a:pt x="24790" y="1390650"/>
                  </a:lnTo>
                  <a:lnTo>
                    <a:pt x="32359" y="1390650"/>
                  </a:lnTo>
                  <a:lnTo>
                    <a:pt x="57150" y="1365872"/>
                  </a:lnTo>
                  <a:lnTo>
                    <a:pt x="57150" y="1362075"/>
                  </a:lnTo>
                  <a:lnTo>
                    <a:pt x="57150" y="1358290"/>
                  </a:lnTo>
                  <a:close/>
                </a:path>
                <a:path w="57150" h="1390650">
                  <a:moveTo>
                    <a:pt x="57150" y="1024915"/>
                  </a:moveTo>
                  <a:lnTo>
                    <a:pt x="32359" y="1000125"/>
                  </a:lnTo>
                  <a:lnTo>
                    <a:pt x="24790" y="1000125"/>
                  </a:lnTo>
                  <a:lnTo>
                    <a:pt x="0" y="1024915"/>
                  </a:lnTo>
                  <a:lnTo>
                    <a:pt x="0" y="1032497"/>
                  </a:lnTo>
                  <a:lnTo>
                    <a:pt x="24790" y="1057275"/>
                  </a:lnTo>
                  <a:lnTo>
                    <a:pt x="32359" y="1057275"/>
                  </a:lnTo>
                  <a:lnTo>
                    <a:pt x="57150" y="1032497"/>
                  </a:lnTo>
                  <a:lnTo>
                    <a:pt x="57150" y="1028700"/>
                  </a:lnTo>
                  <a:lnTo>
                    <a:pt x="57150" y="1024915"/>
                  </a:lnTo>
                  <a:close/>
                </a:path>
                <a:path w="57150" h="1390650">
                  <a:moveTo>
                    <a:pt x="57150" y="691540"/>
                  </a:moveTo>
                  <a:lnTo>
                    <a:pt x="32359" y="666750"/>
                  </a:lnTo>
                  <a:lnTo>
                    <a:pt x="24790" y="666750"/>
                  </a:lnTo>
                  <a:lnTo>
                    <a:pt x="0" y="691540"/>
                  </a:lnTo>
                  <a:lnTo>
                    <a:pt x="0" y="699109"/>
                  </a:lnTo>
                  <a:lnTo>
                    <a:pt x="24790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1390650">
                  <a:moveTo>
                    <a:pt x="57150" y="358165"/>
                  </a:moveTo>
                  <a:lnTo>
                    <a:pt x="32359" y="333375"/>
                  </a:lnTo>
                  <a:lnTo>
                    <a:pt x="24790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90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390650">
                  <a:moveTo>
                    <a:pt x="57150" y="24790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4B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63675" y="3453208"/>
            <a:ext cx="4142740" cy="429006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10" dirty="0">
                <a:solidFill>
                  <a:srgbClr val="4B4A4A"/>
                </a:solidFill>
                <a:latin typeface="Arial Black"/>
                <a:cs typeface="Arial Black"/>
              </a:rPr>
              <a:t>Challenges:</a:t>
            </a:r>
            <a:endParaRPr sz="1650">
              <a:latin typeface="Arial Black"/>
              <a:cs typeface="Arial Black"/>
            </a:endParaRPr>
          </a:p>
          <a:p>
            <a:pPr marL="286385" marR="1685289">
              <a:lnSpc>
                <a:spcPts val="2630"/>
              </a:lnSpc>
              <a:spcBef>
                <a:spcPts val="190"/>
              </a:spcBef>
            </a:pP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Inconsistent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formats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Missing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values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duplicates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745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Maintaining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visual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consistency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between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tools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Managing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large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datasets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efficiently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spc="-10" dirty="0">
                <a:solidFill>
                  <a:srgbClr val="4B4A4A"/>
                </a:solidFill>
                <a:latin typeface="Arial Black"/>
                <a:cs typeface="Arial Black"/>
              </a:rPr>
              <a:t>Learnings:</a:t>
            </a:r>
            <a:endParaRPr sz="1650">
              <a:latin typeface="Arial Black"/>
              <a:cs typeface="Arial Black"/>
            </a:endParaRPr>
          </a:p>
          <a:p>
            <a:pPr marL="286385" marR="5080">
              <a:lnSpc>
                <a:spcPts val="2620"/>
              </a:lnSpc>
              <a:spcBef>
                <a:spcPts val="200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Hands-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on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in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SQL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joins,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queries,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aggregations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Dashboard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designing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in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Power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4B4A4A"/>
                </a:solidFill>
                <a:latin typeface="Verdana"/>
                <a:cs typeface="Verdana"/>
              </a:rPr>
              <a:t>BI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Tableau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Turning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into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business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insights</a:t>
            </a:r>
            <a:endParaRPr sz="1350">
              <a:latin typeface="Verdana"/>
              <a:cs typeface="Verdana"/>
            </a:endParaRPr>
          </a:p>
          <a:p>
            <a:pPr marL="286385" marR="398780">
              <a:lnSpc>
                <a:spcPts val="2630"/>
              </a:lnSpc>
            </a:pP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Improved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cleaning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visualization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skills </a:t>
            </a:r>
            <a:r>
              <a:rPr sz="1350" spc="-125" dirty="0">
                <a:solidFill>
                  <a:srgbClr val="4B4A4A"/>
                </a:solidFill>
                <a:latin typeface="Verdana"/>
                <a:cs typeface="Verdana"/>
              </a:rPr>
              <a:t>Team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collaboration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analytical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thinking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5" dirty="0"/>
              <a:t>Thank</a:t>
            </a:r>
            <a:r>
              <a:rPr spc="-240" dirty="0"/>
              <a:t> </a:t>
            </a:r>
            <a:r>
              <a:rPr spc="-125" dirty="0"/>
              <a:t>You!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3136264"/>
            <a:ext cx="575437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We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appreciate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your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time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attention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today.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We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are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confident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that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these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insights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will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drive informed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decision-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making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support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your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strategic goals.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342</Words>
  <Application>Microsoft Office PowerPoint</Application>
  <PresentationFormat>Custom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 Black</vt:lpstr>
      <vt:lpstr>Verdana</vt:lpstr>
      <vt:lpstr>Office Theme</vt:lpstr>
      <vt:lpstr>Debit &amp; Credit Transaction Analysis</vt:lpstr>
      <vt:lpstr>Overall Transaction Analysis</vt:lpstr>
      <vt:lpstr>Credit &amp; Debit Transaction Insights</vt:lpstr>
      <vt:lpstr>Project Process Flow</vt:lpstr>
      <vt:lpstr>Project Challenges &amp; Key Learnings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Anjali Patil</dc:creator>
  <cp:lastModifiedBy>Shreya Kapadskar</cp:lastModifiedBy>
  <cp:revision>1</cp:revision>
  <dcterms:created xsi:type="dcterms:W3CDTF">2025-10-23T03:29:47Z</dcterms:created>
  <dcterms:modified xsi:type="dcterms:W3CDTF">2025-10-24T13:59:52Z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2025-10-23T00:00:00Z</vt:filetime>
  </property>
  <property fmtid="{D5CDD505-2E9C-101B-9397-08002B2CF9AE}" pid="5" name="Producer">
    <vt:lpwstr>GPL Ghostscript 9.56.1</vt:lpwstr>
  </property>
</Properties>
</file>